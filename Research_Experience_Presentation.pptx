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jpeg" ContentType="image/jpe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12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0404E63-0F7F-437C-AD85-DEA9458A8B0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A813C38-27D8-4C65-A680-C16B4AC379E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35391E0-BB46-49D6-B949-BF7639770CA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414E29D-45BE-4DBB-9B2F-DBF42536F88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2210897-96CF-4D7A-BDB4-E8A722894E3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D8E8A70-E8D2-4288-BB65-206DF446662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2CAC032-E1C6-4D1B-AA70-78198D8256F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C088C0D-3C35-4595-9C33-DC737AFC5A4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1A46C54-6B43-4633-9425-796E6E633E4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03681B6-0E5B-46F6-A246-95969401231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BB77B3A-90A4-49F2-8760-C93E50A5B18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F023F84-6E06-4C25-A103-1410499EF86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17E072FD-C904-4A31-B422-E089DA5B116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0F22F12-DC11-4605-8B13-B0C82257437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0584F99A-77F9-400F-9F3B-99F25FC4A6E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B6378EA-9A01-4AEF-B3F0-2783EDA3814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D1B4F71B-E3D1-40F4-A0DB-4C2C724C36F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404704B-44B2-4A98-BF2B-88E6419FDF1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6A573F80-FBE7-447B-B779-221BD6827A9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D6A187DD-3473-4C21-8119-B30B3CA54D9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54A83238-510F-4AE2-826B-76844AA73B5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F906FB67-C7B5-41A5-ABE2-EABB1B4F875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C4A010E2-19C9-4885-AD41-3BF2CEE0163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57A64302-EBB8-4E81-B631-945760D4FC0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latin typeface="Times New Roman"/>
              </a:rPr>
              <a:t> 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DD0E4BC-83BF-49E7-9AA1-EDF59B146A17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12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 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ftr" idx="4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ldNum" idx="5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34F0186-70FC-49BE-86E5-293C04F4AB2B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6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Rectangle 1"/>
          <p:cNvSpPr/>
          <p:nvPr/>
        </p:nvSpPr>
        <p:spPr>
          <a:xfrm>
            <a:off x="0" y="0"/>
            <a:ext cx="12190680" cy="136080"/>
          </a:xfrm>
          <a:prstGeom prst="rect">
            <a:avLst/>
          </a:prstGeom>
          <a:solidFill>
            <a:srgbClr val="e87c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3" name="TextBox 2"/>
          <p:cNvSpPr/>
          <p:nvPr/>
        </p:nvSpPr>
        <p:spPr>
          <a:xfrm>
            <a:off x="914400" y="1645920"/>
            <a:ext cx="10331640" cy="72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ts val="5000"/>
              </a:lnSpc>
              <a:spcAft>
                <a:spcPts val="201"/>
              </a:spcAft>
              <a:buNone/>
            </a:pPr>
            <a:r>
              <a:rPr b="1" lang="en-US" sz="4200" spc="-1" strike="noStrike">
                <a:solidFill>
                  <a:srgbClr val="ffffff"/>
                </a:solidFill>
                <a:latin typeface="Calibri"/>
                <a:ea typeface="DejaVu Sans"/>
              </a:rPr>
              <a:t>Research Experience Overview</a:t>
            </a:r>
            <a:endParaRPr b="0" lang="en-US" sz="4200" spc="-1" strike="noStrike">
              <a:latin typeface="Arial"/>
            </a:endParaRPr>
          </a:p>
        </p:txBody>
      </p:sp>
      <p:sp>
        <p:nvSpPr>
          <p:cNvPr id="84" name="TextBox 3"/>
          <p:cNvSpPr/>
          <p:nvPr/>
        </p:nvSpPr>
        <p:spPr>
          <a:xfrm>
            <a:off x="1371600" y="3017520"/>
            <a:ext cx="9417240" cy="74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ts val="2599"/>
              </a:lnSpc>
              <a:spcAft>
                <a:spcPts val="201"/>
              </a:spcAft>
              <a:buNone/>
            </a:pPr>
            <a:r>
              <a:rPr b="0" lang="en-US" sz="2200" spc="-1" strike="noStrike">
                <a:solidFill>
                  <a:srgbClr val="a0c8e8"/>
                </a:solidFill>
                <a:latin typeface="Calibri"/>
                <a:ea typeface="DejaVu Sans"/>
              </a:rPr>
              <a:t>VLM-Driven Visual Navigation for Heterogeneous Multi-Robot Systems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85" name="Rectangle 4"/>
          <p:cNvSpPr/>
          <p:nvPr/>
        </p:nvSpPr>
        <p:spPr>
          <a:xfrm>
            <a:off x="4114800" y="3931920"/>
            <a:ext cx="3930840" cy="26280"/>
          </a:xfrm>
          <a:prstGeom prst="rect">
            <a:avLst/>
          </a:prstGeom>
          <a:solidFill>
            <a:srgbClr val="e87c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6" name="TextBox 5"/>
          <p:cNvSpPr/>
          <p:nvPr/>
        </p:nvSpPr>
        <p:spPr>
          <a:xfrm>
            <a:off x="1828800" y="4297680"/>
            <a:ext cx="8502840" cy="171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ts val="3200"/>
              </a:lnSpc>
              <a:spcAft>
                <a:spcPts val="201"/>
              </a:spcAft>
              <a:buNone/>
            </a:pPr>
            <a:r>
              <a:rPr b="0" lang="en-US" sz="1800" spc="-1" strike="noStrike">
                <a:solidFill>
                  <a:srgbClr val="ccddee"/>
                </a:solidFill>
                <a:latin typeface="Calibri"/>
                <a:ea typeface="DejaVu Sans"/>
              </a:rPr>
              <a:t>Lawrence, Wang Yilin</a:t>
            </a:r>
            <a:br>
              <a:rPr sz="1800"/>
            </a:br>
            <a:r>
              <a:rPr b="0" lang="en-US" sz="1800" spc="-1" strike="noStrike">
                <a:solidFill>
                  <a:srgbClr val="ccddee"/>
                </a:solidFill>
                <a:latin typeface="Calibri"/>
                <a:ea typeface="DejaVu Sans"/>
              </a:rPr>
              <a:t>University of Macau / Electromechanical Engineering</a:t>
            </a:r>
            <a:br>
              <a:rPr sz="1800"/>
            </a:br>
            <a:r>
              <a:rPr b="0" lang="en-US" sz="1800" spc="-1" strike="noStrike">
                <a:solidFill>
                  <a:srgbClr val="ccddee"/>
                </a:solidFill>
                <a:latin typeface="Calibri"/>
                <a:ea typeface="DejaVu Sans"/>
              </a:rPr>
              <a:t>dc22897@um.edu.mo</a:t>
            </a:r>
            <a:br>
              <a:rPr sz="1800"/>
            </a:br>
            <a:r>
              <a:rPr b="0" lang="en-US" sz="1800" spc="-1" strike="noStrike">
                <a:solidFill>
                  <a:srgbClr val="ccddee"/>
                </a:solidFill>
                <a:latin typeface="Calibri"/>
                <a:ea typeface="DejaVu Sans"/>
              </a:rPr>
              <a:t>Apr. 28 2026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87" name="TextBox 6"/>
          <p:cNvSpPr/>
          <p:nvPr/>
        </p:nvSpPr>
        <p:spPr>
          <a:xfrm>
            <a:off x="10789920" y="6400800"/>
            <a:ext cx="109620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ts val="1301"/>
              </a:lnSpc>
              <a:spcAft>
                <a:spcPts val="201"/>
              </a:spcAft>
              <a:buNone/>
            </a:pPr>
            <a:r>
              <a:rPr b="0" lang="en-US" sz="1100" spc="-1" strike="noStrike">
                <a:solidFill>
                  <a:srgbClr val="606060"/>
                </a:solidFill>
                <a:latin typeface="Calibri"/>
                <a:ea typeface="DejaVu Sans"/>
              </a:rPr>
              <a:t>1/10</a:t>
            </a:r>
            <a:endParaRPr b="0" lang="en-US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Rectangle 1"/>
          <p:cNvSpPr/>
          <p:nvPr/>
        </p:nvSpPr>
        <p:spPr>
          <a:xfrm>
            <a:off x="0" y="0"/>
            <a:ext cx="12190680" cy="1004760"/>
          </a:xfrm>
          <a:prstGeom prst="rect">
            <a:avLst/>
          </a:prstGeom>
          <a:solidFill>
            <a:srgbClr val="1b3a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9" name="TextBox 2"/>
          <p:cNvSpPr/>
          <p:nvPr/>
        </p:nvSpPr>
        <p:spPr>
          <a:xfrm>
            <a:off x="548640" y="182880"/>
            <a:ext cx="9142920" cy="50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ts val="3300"/>
              </a:lnSpc>
              <a:spcAft>
                <a:spcPts val="201"/>
              </a:spcAft>
              <a:buNone/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  <a:ea typeface="DejaVu Sans"/>
              </a:rPr>
              <a:t>About Me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90" name="Rectangle 3"/>
          <p:cNvSpPr/>
          <p:nvPr/>
        </p:nvSpPr>
        <p:spPr>
          <a:xfrm>
            <a:off x="0" y="1005840"/>
            <a:ext cx="12190680" cy="35640"/>
          </a:xfrm>
          <a:prstGeom prst="rect">
            <a:avLst/>
          </a:prstGeom>
          <a:solidFill>
            <a:srgbClr val="e87c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1" name="TextBox 4"/>
          <p:cNvSpPr/>
          <p:nvPr/>
        </p:nvSpPr>
        <p:spPr>
          <a:xfrm>
            <a:off x="731520" y="1371600"/>
            <a:ext cx="502812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ts val="2599"/>
              </a:lnSpc>
              <a:spcAft>
                <a:spcPts val="201"/>
              </a:spcAft>
              <a:buNone/>
            </a:pPr>
            <a:r>
              <a:rPr b="1" lang="en-US" sz="2200" spc="-1" strike="noStrike">
                <a:solidFill>
                  <a:srgbClr val="1b3a5c"/>
                </a:solidFill>
                <a:latin typeface="Calibri"/>
                <a:ea typeface="DejaVu Sans"/>
              </a:rPr>
              <a:t>Education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92" name="TextBox 5"/>
          <p:cNvSpPr/>
          <p:nvPr/>
        </p:nvSpPr>
        <p:spPr>
          <a:xfrm>
            <a:off x="731520" y="1920240"/>
            <a:ext cx="5028120" cy="146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ts val="2401"/>
              </a:lnSpc>
              <a:spcAft>
                <a:spcPts val="400"/>
              </a:spcAft>
              <a:buNone/>
            </a:pPr>
            <a:r>
              <a:rPr b="0" lang="en-US" sz="1600" spc="-1" strike="noStrike">
                <a:solidFill>
                  <a:srgbClr val="202020"/>
                </a:solidFill>
                <a:latin typeface="Calibri"/>
                <a:ea typeface="DejaVu Sans"/>
              </a:rPr>
              <a:t>●  </a:t>
            </a:r>
            <a:r>
              <a:rPr b="0" lang="en-US" sz="1600" spc="-1" strike="noStrike">
                <a:solidFill>
                  <a:srgbClr val="202020"/>
                </a:solidFill>
                <a:latin typeface="Calibri"/>
                <a:ea typeface="DejaVu Sans"/>
              </a:rPr>
              <a:t>BSc. University of Macau, 2026</a:t>
            </a:r>
            <a:endParaRPr b="0" lang="en-US" sz="1600" spc="-1" strike="noStrike">
              <a:latin typeface="Arial"/>
            </a:endParaRPr>
          </a:p>
          <a:p>
            <a:pPr>
              <a:lnSpc>
                <a:spcPts val="2401"/>
              </a:lnSpc>
              <a:spcAft>
                <a:spcPts val="400"/>
              </a:spcAft>
              <a:buNone/>
            </a:pPr>
            <a:r>
              <a:rPr b="0" lang="en-US" sz="1400" spc="-1" strike="noStrike">
                <a:solidFill>
                  <a:srgbClr val="606060"/>
                </a:solidFill>
                <a:latin typeface="Calibri"/>
                <a:ea typeface="DejaVu Sans"/>
              </a:rPr>
              <a:t>    ▸  </a:t>
            </a:r>
            <a:r>
              <a:rPr b="0" lang="en-US" sz="1400" spc="-1" strike="noStrike">
                <a:solidFill>
                  <a:srgbClr val="606060"/>
                </a:solidFill>
                <a:latin typeface="Calibri"/>
                <a:ea typeface="DejaVu Sans"/>
              </a:rPr>
              <a:t>Major: Electromechanical Engineering</a:t>
            </a:r>
            <a:endParaRPr b="0" lang="en-US" sz="1400" spc="-1" strike="noStrike">
              <a:latin typeface="Arial"/>
            </a:endParaRPr>
          </a:p>
          <a:p>
            <a:pPr>
              <a:lnSpc>
                <a:spcPts val="2401"/>
              </a:lnSpc>
              <a:spcAft>
                <a:spcPts val="400"/>
              </a:spcAft>
              <a:buNone/>
            </a:pPr>
            <a:r>
              <a:rPr b="0" lang="en-US" sz="1400" spc="-1" strike="noStrike">
                <a:solidFill>
                  <a:srgbClr val="606060"/>
                </a:solidFill>
                <a:latin typeface="Calibri"/>
                <a:ea typeface="DejaVu Sans"/>
              </a:rPr>
              <a:t>    ▸  </a:t>
            </a:r>
            <a:r>
              <a:rPr b="0" lang="en-US" sz="1400" spc="-1" strike="noStrike">
                <a:solidFill>
                  <a:srgbClr val="606060"/>
                </a:solidFill>
                <a:latin typeface="Calibri"/>
                <a:ea typeface="DejaVu Sans"/>
              </a:rPr>
              <a:t>GPA: 3.07 / 4.0</a:t>
            </a:r>
            <a:endParaRPr b="0" lang="en-US" sz="1400" spc="-1" strike="noStrike">
              <a:latin typeface="Arial"/>
            </a:endParaRPr>
          </a:p>
          <a:p>
            <a:pPr>
              <a:lnSpc>
                <a:spcPts val="2401"/>
              </a:lnSpc>
              <a:spcAft>
                <a:spcPts val="400"/>
              </a:spcAft>
              <a:buNone/>
            </a:pPr>
            <a:endParaRPr b="0" lang="en-US" sz="1600" spc="-1" strike="noStrike">
              <a:latin typeface="Arial"/>
            </a:endParaRPr>
          </a:p>
        </p:txBody>
      </p:sp>
      <p:sp>
        <p:nvSpPr>
          <p:cNvPr id="93" name="TextBox 6"/>
          <p:cNvSpPr/>
          <p:nvPr/>
        </p:nvSpPr>
        <p:spPr>
          <a:xfrm>
            <a:off x="686160" y="3657600"/>
            <a:ext cx="502812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ts val="2599"/>
              </a:lnSpc>
              <a:spcAft>
                <a:spcPts val="201"/>
              </a:spcAft>
              <a:buNone/>
            </a:pPr>
            <a:r>
              <a:rPr b="1" lang="en-US" sz="2200" spc="-1" strike="noStrike">
                <a:solidFill>
                  <a:srgbClr val="1b3a5c"/>
                </a:solidFill>
                <a:latin typeface="Calibri"/>
                <a:ea typeface="DejaVu Sans"/>
              </a:rPr>
              <a:t>Research Interests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94" name="TextBox 7"/>
          <p:cNvSpPr/>
          <p:nvPr/>
        </p:nvSpPr>
        <p:spPr>
          <a:xfrm>
            <a:off x="731520" y="4114800"/>
            <a:ext cx="5028120" cy="20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ts val="2401"/>
              </a:lnSpc>
              <a:spcAft>
                <a:spcPts val="400"/>
              </a:spcAft>
              <a:buNone/>
            </a:pPr>
            <a:r>
              <a:rPr b="0" lang="en-US" sz="1600" spc="-1" strike="noStrike">
                <a:solidFill>
                  <a:srgbClr val="202020"/>
                </a:solidFill>
                <a:latin typeface="Calibri"/>
                <a:ea typeface="DejaVu Sans"/>
              </a:rPr>
              <a:t>●  </a:t>
            </a:r>
            <a:r>
              <a:rPr b="0" lang="en-US" sz="1600" spc="-1" strike="noStrike">
                <a:solidFill>
                  <a:srgbClr val="202020"/>
                </a:solidFill>
                <a:latin typeface="Calibri"/>
                <a:ea typeface="DejaVu Sans"/>
              </a:rPr>
              <a:t>Multi-modal AI × Robotics</a:t>
            </a:r>
            <a:endParaRPr b="0" lang="en-US" sz="1600" spc="-1" strike="noStrike">
              <a:latin typeface="Arial"/>
            </a:endParaRPr>
          </a:p>
          <a:p>
            <a:pPr>
              <a:lnSpc>
                <a:spcPts val="2401"/>
              </a:lnSpc>
              <a:spcAft>
                <a:spcPts val="400"/>
              </a:spcAft>
              <a:buNone/>
            </a:pPr>
            <a:r>
              <a:rPr b="0" lang="en-US" sz="1600" spc="-1" strike="noStrike">
                <a:solidFill>
                  <a:srgbClr val="202020"/>
                </a:solidFill>
                <a:latin typeface="Calibri"/>
                <a:ea typeface="DejaVu Sans"/>
              </a:rPr>
              <a:t>●  </a:t>
            </a:r>
            <a:r>
              <a:rPr b="0" lang="en-US" sz="1600" spc="-1" strike="noStrike">
                <a:solidFill>
                  <a:srgbClr val="202020"/>
                </a:solidFill>
                <a:latin typeface="Calibri"/>
                <a:ea typeface="DejaVu Sans"/>
              </a:rPr>
              <a:t>Vision-Language Models for Embodied Intelligence</a:t>
            </a:r>
            <a:endParaRPr b="0" lang="en-US" sz="1600" spc="-1" strike="noStrike">
              <a:latin typeface="Arial"/>
            </a:endParaRPr>
          </a:p>
          <a:p>
            <a:pPr>
              <a:lnSpc>
                <a:spcPts val="2401"/>
              </a:lnSpc>
              <a:spcAft>
                <a:spcPts val="400"/>
              </a:spcAft>
              <a:buNone/>
            </a:pPr>
            <a:r>
              <a:rPr b="0" lang="en-US" sz="1600" spc="-1" strike="noStrike">
                <a:solidFill>
                  <a:srgbClr val="202020"/>
                </a:solidFill>
                <a:latin typeface="Calibri"/>
                <a:ea typeface="DejaVu Sans"/>
              </a:rPr>
              <a:t>●  </a:t>
            </a:r>
            <a:r>
              <a:rPr b="0" lang="en-US" sz="1600" spc="-1" strike="noStrike">
                <a:solidFill>
                  <a:srgbClr val="202020"/>
                </a:solidFill>
                <a:latin typeface="Calibri"/>
                <a:ea typeface="DejaVu Sans"/>
              </a:rPr>
              <a:t>Autonomous Navigation &amp; Semantic Mapping</a:t>
            </a:r>
            <a:endParaRPr b="0" lang="en-US" sz="1600" spc="-1" strike="noStrike">
              <a:latin typeface="Arial"/>
            </a:endParaRPr>
          </a:p>
          <a:p>
            <a:pPr>
              <a:lnSpc>
                <a:spcPts val="2401"/>
              </a:lnSpc>
              <a:spcAft>
                <a:spcPts val="400"/>
              </a:spcAft>
              <a:buNone/>
            </a:pPr>
            <a:r>
              <a:rPr b="0" lang="en-US" sz="1600" spc="-1" strike="noStrike">
                <a:solidFill>
                  <a:srgbClr val="202020"/>
                </a:solidFill>
                <a:latin typeface="Calibri"/>
                <a:ea typeface="DejaVu Sans"/>
              </a:rPr>
              <a:t>●  </a:t>
            </a:r>
            <a:r>
              <a:rPr b="0" lang="en-US" sz="1600" spc="-1" strike="noStrike">
                <a:solidFill>
                  <a:srgbClr val="202020"/>
                </a:solidFill>
                <a:latin typeface="Calibri"/>
                <a:ea typeface="DejaVu Sans"/>
              </a:rPr>
              <a:t>Multi-robot Pose Estimation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95" name="TextBox 9"/>
          <p:cNvSpPr/>
          <p:nvPr/>
        </p:nvSpPr>
        <p:spPr>
          <a:xfrm>
            <a:off x="6858000" y="3200400"/>
            <a:ext cx="4113720" cy="57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ts val="1899"/>
              </a:lnSpc>
              <a:spcAft>
                <a:spcPts val="201"/>
              </a:spcAft>
              <a:buNone/>
            </a:pPr>
            <a:r>
              <a:rPr b="0" lang="en-US" sz="1600" spc="-1" strike="noStrike">
                <a:solidFill>
                  <a:srgbClr val="606060"/>
                </a:solidFill>
                <a:latin typeface="Calibri"/>
                <a:ea typeface="DejaVu Sans"/>
              </a:rPr>
              <a:t>[Photo / Skills / Awards</a:t>
            </a:r>
            <a:br>
              <a:rPr sz="1600"/>
            </a:br>
            <a:r>
              <a:rPr b="0" lang="en-US" sz="1600" spc="-1" strike="noStrike">
                <a:solidFill>
                  <a:srgbClr val="606060"/>
                </a:solidFill>
                <a:latin typeface="Calibri"/>
                <a:ea typeface="DejaVu Sans"/>
              </a:rPr>
              <a:t>Placeholder]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96" name="TextBox 10"/>
          <p:cNvSpPr/>
          <p:nvPr/>
        </p:nvSpPr>
        <p:spPr>
          <a:xfrm>
            <a:off x="10789920" y="6400800"/>
            <a:ext cx="109620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ts val="1301"/>
              </a:lnSpc>
              <a:spcAft>
                <a:spcPts val="201"/>
              </a:spcAft>
              <a:buNone/>
            </a:pPr>
            <a:r>
              <a:rPr b="0" lang="en-US" sz="1100" spc="-1" strike="noStrike">
                <a:solidFill>
                  <a:srgbClr val="606060"/>
                </a:solidFill>
                <a:latin typeface="Calibri"/>
                <a:ea typeface="DejaVu Sans"/>
              </a:rPr>
              <a:t>2/10</a:t>
            </a:r>
            <a:endParaRPr b="0" lang="en-US" sz="1100" spc="-1" strike="noStrike">
              <a:latin typeface="Arial"/>
            </a:endParaRPr>
          </a:p>
        </p:txBody>
      </p:sp>
      <p:pic>
        <p:nvPicPr>
          <p:cNvPr id="97" name="" descr=""/>
          <p:cNvPicPr/>
          <p:nvPr/>
        </p:nvPicPr>
        <p:blipFill>
          <a:blip r:embed="rId1"/>
          <a:stretch/>
        </p:blipFill>
        <p:spPr>
          <a:xfrm>
            <a:off x="7315200" y="1371600"/>
            <a:ext cx="3428280" cy="4908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angle 1"/>
          <p:cNvSpPr/>
          <p:nvPr/>
        </p:nvSpPr>
        <p:spPr>
          <a:xfrm>
            <a:off x="0" y="0"/>
            <a:ext cx="12190680" cy="1004760"/>
          </a:xfrm>
          <a:prstGeom prst="rect">
            <a:avLst/>
          </a:prstGeom>
          <a:solidFill>
            <a:srgbClr val="1b3a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9" name="TextBox 2"/>
          <p:cNvSpPr/>
          <p:nvPr/>
        </p:nvSpPr>
        <p:spPr>
          <a:xfrm>
            <a:off x="548640" y="182880"/>
            <a:ext cx="9142920" cy="50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ts val="3300"/>
              </a:lnSpc>
              <a:spcAft>
                <a:spcPts val="201"/>
              </a:spcAft>
              <a:buNone/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  <a:ea typeface="DejaVu Sans"/>
              </a:rPr>
              <a:t>Early Research Experience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00" name="Rectangle 4"/>
          <p:cNvSpPr/>
          <p:nvPr/>
        </p:nvSpPr>
        <p:spPr>
          <a:xfrm>
            <a:off x="0" y="1005840"/>
            <a:ext cx="12190680" cy="35640"/>
          </a:xfrm>
          <a:prstGeom prst="rect">
            <a:avLst/>
          </a:prstGeom>
          <a:solidFill>
            <a:srgbClr val="e87c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1" name="TextBox 5"/>
          <p:cNvSpPr/>
          <p:nvPr/>
        </p:nvSpPr>
        <p:spPr>
          <a:xfrm>
            <a:off x="731520" y="1463040"/>
            <a:ext cx="1051452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ts val="2599"/>
              </a:lnSpc>
              <a:spcAft>
                <a:spcPts val="201"/>
              </a:spcAft>
              <a:buNone/>
            </a:pPr>
            <a:r>
              <a:rPr b="1" lang="en-US" sz="2200" spc="-1" strike="noStrike">
                <a:solidFill>
                  <a:srgbClr val="1b3a5c"/>
                </a:solidFill>
                <a:latin typeface="Calibri"/>
                <a:ea typeface="DejaVu Sans"/>
              </a:rPr>
              <a:t>Project 1: Multi-Robot Pose Estimation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102" name="TextBox 6"/>
          <p:cNvSpPr/>
          <p:nvPr/>
        </p:nvSpPr>
        <p:spPr>
          <a:xfrm>
            <a:off x="731520" y="2011680"/>
            <a:ext cx="10514520" cy="171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ts val="2401"/>
              </a:lnSpc>
              <a:spcAft>
                <a:spcPts val="400"/>
              </a:spcAft>
              <a:buNone/>
            </a:pPr>
            <a:r>
              <a:rPr b="0" lang="en-US" sz="1600" spc="-1" strike="noStrike">
                <a:solidFill>
                  <a:srgbClr val="202020"/>
                </a:solidFill>
                <a:latin typeface="Calibri"/>
                <a:ea typeface="DejaVu Sans"/>
              </a:rPr>
              <a:t>●  </a:t>
            </a:r>
            <a:r>
              <a:rPr b="0" lang="en-US" sz="1600" spc="-1" strike="noStrike">
                <a:solidFill>
                  <a:srgbClr val="202020"/>
                </a:solidFill>
                <a:latin typeface="Calibri"/>
                <a:ea typeface="DejaVu Sans"/>
              </a:rPr>
              <a:t>Objective: Develop an pose alignment algorithm applied to unmanned aerial vehicles</a:t>
            </a:r>
            <a:endParaRPr b="0" lang="en-US" sz="1600" spc="-1" strike="noStrike">
              <a:latin typeface="Arial"/>
            </a:endParaRPr>
          </a:p>
          <a:p>
            <a:pPr>
              <a:lnSpc>
                <a:spcPts val="2401"/>
              </a:lnSpc>
              <a:spcAft>
                <a:spcPts val="400"/>
              </a:spcAft>
              <a:buNone/>
            </a:pPr>
            <a:r>
              <a:rPr b="0" lang="en-US" sz="1600" spc="-1" strike="noStrike">
                <a:solidFill>
                  <a:srgbClr val="202020"/>
                </a:solidFill>
                <a:latin typeface="Calibri"/>
                <a:ea typeface="DejaVu Sans"/>
              </a:rPr>
              <a:t>●  </a:t>
            </a:r>
            <a:r>
              <a:rPr b="0" lang="en-US" sz="1600" spc="-1" strike="noStrike">
                <a:solidFill>
                  <a:srgbClr val="202020"/>
                </a:solidFill>
                <a:latin typeface="Calibri"/>
                <a:ea typeface="DejaVu Sans"/>
              </a:rPr>
              <a:t>Method: Obtain the robot's pose by using motion capture equipment, and combine with the front-view image to train the GNN model for image pose alignment.</a:t>
            </a:r>
            <a:endParaRPr b="0" lang="en-US" sz="1600" spc="-1" strike="noStrike">
              <a:latin typeface="Arial"/>
            </a:endParaRPr>
          </a:p>
          <a:p>
            <a:pPr>
              <a:lnSpc>
                <a:spcPts val="2401"/>
              </a:lnSpc>
              <a:spcAft>
                <a:spcPts val="400"/>
              </a:spcAft>
              <a:buNone/>
            </a:pPr>
            <a:r>
              <a:rPr b="0" lang="en-US" sz="1600" spc="-1" strike="noStrike">
                <a:solidFill>
                  <a:srgbClr val="202020"/>
                </a:solidFill>
                <a:latin typeface="Calibri"/>
                <a:ea typeface="DejaVu Sans"/>
              </a:rPr>
              <a:t>●  </a:t>
            </a:r>
            <a:r>
              <a:rPr b="0" lang="en-US" sz="1600" spc="-1" strike="noStrike">
                <a:solidFill>
                  <a:srgbClr val="202020"/>
                </a:solidFill>
                <a:latin typeface="Calibri"/>
                <a:ea typeface="DejaVu Sans"/>
              </a:rPr>
              <a:t>My contribution: Test the connectivity of the CAN bus used by the robot; Test the bugs in the ROS2 workspace code. Welded circuit boards for powering CAN bus/Jetson and robomaster chassis.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03" name="TextBox 40"/>
          <p:cNvSpPr/>
          <p:nvPr/>
        </p:nvSpPr>
        <p:spPr>
          <a:xfrm>
            <a:off x="10789920" y="6400800"/>
            <a:ext cx="109620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ts val="1301"/>
              </a:lnSpc>
              <a:spcAft>
                <a:spcPts val="201"/>
              </a:spcAft>
              <a:buNone/>
            </a:pPr>
            <a:r>
              <a:rPr b="0" lang="en-US" sz="1100" spc="-1" strike="noStrike">
                <a:solidFill>
                  <a:srgbClr val="606060"/>
                </a:solidFill>
                <a:latin typeface="Calibri"/>
                <a:ea typeface="DejaVu Sans"/>
              </a:rPr>
              <a:t>3/10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04" name="TextBox 42"/>
          <p:cNvSpPr/>
          <p:nvPr/>
        </p:nvSpPr>
        <p:spPr>
          <a:xfrm>
            <a:off x="731880" y="3907800"/>
            <a:ext cx="1051452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ts val="2599"/>
              </a:lnSpc>
              <a:spcAft>
                <a:spcPts val="201"/>
              </a:spcAft>
              <a:buNone/>
            </a:pPr>
            <a:r>
              <a:rPr b="1" lang="en-US" sz="2200" spc="-1" strike="noStrike">
                <a:solidFill>
                  <a:srgbClr val="1b3a5c"/>
                </a:solidFill>
                <a:latin typeface="Calibri"/>
                <a:ea typeface="DejaVu Sans"/>
              </a:rPr>
              <a:t>Project 2: Robot path planning demo 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105" name="TextBox 50"/>
          <p:cNvSpPr/>
          <p:nvPr/>
        </p:nvSpPr>
        <p:spPr>
          <a:xfrm>
            <a:off x="731880" y="4456440"/>
            <a:ext cx="11383560" cy="171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ts val="2401"/>
              </a:lnSpc>
              <a:spcAft>
                <a:spcPts val="400"/>
              </a:spcAft>
              <a:buNone/>
            </a:pPr>
            <a:r>
              <a:rPr b="0" lang="en-US" sz="1600" spc="-1" strike="noStrike">
                <a:solidFill>
                  <a:srgbClr val="202020"/>
                </a:solidFill>
                <a:latin typeface="Calibri"/>
                <a:ea typeface="DejaVu Sans"/>
              </a:rPr>
              <a:t>●  </a:t>
            </a:r>
            <a:r>
              <a:rPr b="0" lang="en-US" sz="1600" spc="-1" strike="noStrike">
                <a:solidFill>
                  <a:srgbClr val="202020"/>
                </a:solidFill>
                <a:latin typeface="Calibri"/>
                <a:ea typeface="DejaVu Sans"/>
              </a:rPr>
              <a:t>Objective: Show the advantages of motion capture equipment to the sponsor, hoping that they will invest in a set of motion capture equipment.</a:t>
            </a:r>
            <a:endParaRPr b="0" lang="en-US" sz="1600" spc="-1" strike="noStrike">
              <a:latin typeface="Arial"/>
            </a:endParaRPr>
          </a:p>
          <a:p>
            <a:pPr>
              <a:lnSpc>
                <a:spcPts val="2401"/>
              </a:lnSpc>
              <a:spcAft>
                <a:spcPts val="400"/>
              </a:spcAft>
              <a:buNone/>
            </a:pPr>
            <a:r>
              <a:rPr b="0" lang="en-US" sz="1600" spc="-1" strike="noStrike">
                <a:solidFill>
                  <a:srgbClr val="202020"/>
                </a:solidFill>
                <a:latin typeface="Calibri"/>
                <a:ea typeface="DejaVu Sans"/>
              </a:rPr>
              <a:t>●  </a:t>
            </a:r>
            <a:r>
              <a:rPr b="0" lang="en-US" sz="1600" spc="-1" strike="noStrike">
                <a:solidFill>
                  <a:srgbClr val="202020"/>
                </a:solidFill>
                <a:latin typeface="Calibri"/>
                <a:ea typeface="DejaVu Sans"/>
              </a:rPr>
              <a:t>Method: Align the target path points using the robot's pose obtained from the motion capture equipment.</a:t>
            </a:r>
            <a:endParaRPr b="0" lang="en-US" sz="1600" spc="-1" strike="noStrike">
              <a:latin typeface="Arial"/>
            </a:endParaRPr>
          </a:p>
          <a:p>
            <a:pPr>
              <a:lnSpc>
                <a:spcPts val="2401"/>
              </a:lnSpc>
              <a:spcAft>
                <a:spcPts val="400"/>
              </a:spcAft>
              <a:buNone/>
            </a:pPr>
            <a:r>
              <a:rPr b="0" lang="en-US" sz="1600" spc="-1" strike="noStrike">
                <a:solidFill>
                  <a:srgbClr val="202020"/>
                </a:solidFill>
                <a:latin typeface="Calibri"/>
                <a:ea typeface="DejaVu Sans"/>
              </a:rPr>
              <a:t>●  </a:t>
            </a:r>
            <a:r>
              <a:rPr b="0" lang="en-US" sz="1600" spc="-1" strike="noStrike">
                <a:solidFill>
                  <a:srgbClr val="202020"/>
                </a:solidFill>
                <a:latin typeface="Calibri"/>
                <a:ea typeface="DejaVu Sans"/>
              </a:rPr>
              <a:t>My contribution</a:t>
            </a:r>
            <a:r>
              <a:rPr b="0" lang="zh-CN" sz="1600" spc="-1" strike="noStrike">
                <a:solidFill>
                  <a:srgbClr val="202020"/>
                </a:solidFill>
                <a:latin typeface="Calibri"/>
                <a:ea typeface="DejaVu Sans"/>
              </a:rPr>
              <a:t>：</a:t>
            </a:r>
            <a:r>
              <a:rPr b="0" lang="en-US" sz="1600" spc="-1" strike="noStrike">
                <a:solidFill>
                  <a:srgbClr val="202020"/>
                </a:solidFill>
                <a:latin typeface="Calibri"/>
                <a:ea typeface="DejaVu Sans"/>
              </a:rPr>
              <a:t>Write the code and use motion capture to measure the position and posture of the robot.</a:t>
            </a:r>
            <a:endParaRPr b="0" lang="en-US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Rectangle 6"/>
          <p:cNvSpPr/>
          <p:nvPr/>
        </p:nvSpPr>
        <p:spPr>
          <a:xfrm>
            <a:off x="0" y="0"/>
            <a:ext cx="12190680" cy="1004760"/>
          </a:xfrm>
          <a:prstGeom prst="rect">
            <a:avLst/>
          </a:prstGeom>
          <a:solidFill>
            <a:srgbClr val="1b3a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7" name="TextBox 24"/>
          <p:cNvSpPr/>
          <p:nvPr/>
        </p:nvSpPr>
        <p:spPr>
          <a:xfrm>
            <a:off x="548640" y="182880"/>
            <a:ext cx="9142920" cy="50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ts val="3300"/>
              </a:lnSpc>
              <a:spcAft>
                <a:spcPts val="201"/>
              </a:spcAft>
              <a:buNone/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  <a:ea typeface="DejaVu Sans"/>
              </a:rPr>
              <a:t>Early Research Experience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08" name="TextBox 26"/>
          <p:cNvSpPr/>
          <p:nvPr/>
        </p:nvSpPr>
        <p:spPr>
          <a:xfrm>
            <a:off x="548640" y="640080"/>
            <a:ext cx="9142920" cy="29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ts val="1599"/>
              </a:lnSpc>
              <a:spcAft>
                <a:spcPts val="201"/>
              </a:spcAft>
              <a:buNone/>
            </a:pPr>
            <a:r>
              <a:rPr b="0" lang="en-US" sz="1400" spc="-1" strike="noStrike">
                <a:solidFill>
                  <a:srgbClr val="a0c8e8"/>
                </a:solidFill>
                <a:latin typeface="Calibri"/>
                <a:ea typeface="DejaVu Sans"/>
              </a:rPr>
              <a:t>[Fill in your earlier research projects before the FYP]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09" name="Rectangle 11"/>
          <p:cNvSpPr/>
          <p:nvPr/>
        </p:nvSpPr>
        <p:spPr>
          <a:xfrm>
            <a:off x="0" y="1005840"/>
            <a:ext cx="12190680" cy="35640"/>
          </a:xfrm>
          <a:prstGeom prst="rect">
            <a:avLst/>
          </a:prstGeom>
          <a:solidFill>
            <a:srgbClr val="e87c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0" name="TextBox 36"/>
          <p:cNvSpPr/>
          <p:nvPr/>
        </p:nvSpPr>
        <p:spPr>
          <a:xfrm>
            <a:off x="10789920" y="6400800"/>
            <a:ext cx="109620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ts val="1301"/>
              </a:lnSpc>
              <a:spcAft>
                <a:spcPts val="201"/>
              </a:spcAft>
              <a:buNone/>
            </a:pPr>
            <a:r>
              <a:rPr b="0" lang="en-US" sz="1100" spc="-1" strike="noStrike">
                <a:solidFill>
                  <a:srgbClr val="606060"/>
                </a:solidFill>
                <a:latin typeface="Calibri"/>
                <a:ea typeface="DejaVu Sans"/>
              </a:rPr>
              <a:t>4/10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11" name="TextBox 1"/>
          <p:cNvSpPr/>
          <p:nvPr/>
        </p:nvSpPr>
        <p:spPr>
          <a:xfrm>
            <a:off x="686520" y="1371600"/>
            <a:ext cx="4799520" cy="74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ts val="2599"/>
              </a:lnSpc>
              <a:spcAft>
                <a:spcPts val="201"/>
              </a:spcAft>
              <a:buNone/>
            </a:pPr>
            <a:r>
              <a:rPr b="1" lang="en-US" sz="2200" spc="-1" strike="noStrike">
                <a:solidFill>
                  <a:srgbClr val="1b3a5c"/>
                </a:solidFill>
                <a:latin typeface="Calibri"/>
                <a:ea typeface="DejaVu Sans"/>
              </a:rPr>
              <a:t>Project 3: Cloud Edge Intelligent Robot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112" name="TextBox 32"/>
          <p:cNvSpPr/>
          <p:nvPr/>
        </p:nvSpPr>
        <p:spPr>
          <a:xfrm>
            <a:off x="686520" y="2397600"/>
            <a:ext cx="4570920" cy="354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ts val="2401"/>
              </a:lnSpc>
              <a:spcAft>
                <a:spcPts val="400"/>
              </a:spcAft>
              <a:buNone/>
            </a:pPr>
            <a:r>
              <a:rPr b="0" lang="en-US" sz="1600" spc="-1" strike="noStrike">
                <a:solidFill>
                  <a:srgbClr val="202020"/>
                </a:solidFill>
                <a:latin typeface="Calibri"/>
                <a:ea typeface="DejaVu Sans"/>
              </a:rPr>
              <a:t>●  </a:t>
            </a:r>
            <a:r>
              <a:rPr b="0" lang="en-US" sz="1600" spc="-1" strike="noStrike">
                <a:solidFill>
                  <a:srgbClr val="202020"/>
                </a:solidFill>
                <a:latin typeface="Calibri"/>
                <a:ea typeface="DejaVu Sans"/>
              </a:rPr>
              <a:t>Objective: Using cloud-based models to build a VLM robot based on the MCP architecture enables it to independently and autonomously complete collaborative tasks.</a:t>
            </a:r>
            <a:endParaRPr b="0" lang="en-US" sz="1600" spc="-1" strike="noStrike">
              <a:latin typeface="Arial"/>
            </a:endParaRPr>
          </a:p>
          <a:p>
            <a:pPr>
              <a:lnSpc>
                <a:spcPts val="2401"/>
              </a:lnSpc>
              <a:spcAft>
                <a:spcPts val="400"/>
              </a:spcAft>
              <a:buNone/>
            </a:pPr>
            <a:r>
              <a:rPr b="0" lang="en-US" sz="1600" spc="-1" strike="noStrike">
                <a:solidFill>
                  <a:srgbClr val="202020"/>
                </a:solidFill>
                <a:latin typeface="Calibri"/>
                <a:ea typeface="DejaVu Sans"/>
              </a:rPr>
              <a:t>●  </a:t>
            </a:r>
            <a:r>
              <a:rPr b="0" lang="en-US" sz="1600" spc="-1" strike="noStrike">
                <a:solidFill>
                  <a:srgbClr val="202020"/>
                </a:solidFill>
                <a:latin typeface="Calibri"/>
                <a:ea typeface="DejaVu Sans"/>
              </a:rPr>
              <a:t>Method: VLM control robot</a:t>
            </a:r>
            <a:endParaRPr b="0" lang="en-US" sz="1600" spc="-1" strike="noStrike">
              <a:latin typeface="Arial"/>
            </a:endParaRPr>
          </a:p>
          <a:p>
            <a:pPr>
              <a:lnSpc>
                <a:spcPts val="2401"/>
              </a:lnSpc>
              <a:spcAft>
                <a:spcPts val="400"/>
              </a:spcAft>
              <a:buNone/>
            </a:pPr>
            <a:r>
              <a:rPr b="0" lang="en-US" sz="1600" spc="-1" strike="noStrike">
                <a:solidFill>
                  <a:srgbClr val="202020"/>
                </a:solidFill>
                <a:latin typeface="Calibri"/>
                <a:ea typeface="Noto Sans CJK SC"/>
              </a:rPr>
              <a:t>●  </a:t>
            </a:r>
            <a:r>
              <a:rPr b="0" lang="en-US" sz="1600" spc="-1" strike="noStrike">
                <a:solidFill>
                  <a:srgbClr val="202020"/>
                </a:solidFill>
                <a:latin typeface="Calibri"/>
                <a:ea typeface="DejaVu Sans"/>
              </a:rPr>
              <a:t>My contribution: Build a robot simulation environment using Iaasc Sim, and transmit the camera view to Gemini. After Gemini's thinking, it will release the path.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13" name="TextBox 54"/>
          <p:cNvSpPr/>
          <p:nvPr/>
        </p:nvSpPr>
        <p:spPr>
          <a:xfrm>
            <a:off x="6583680" y="3017520"/>
            <a:ext cx="5028120" cy="29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ts val="1599"/>
              </a:lnSpc>
              <a:spcAft>
                <a:spcPts val="201"/>
              </a:spcAft>
              <a:buNone/>
            </a:pPr>
            <a:r>
              <a:rPr b="0" lang="en-US" sz="1400" spc="-1" strike="noStrike">
                <a:solidFill>
                  <a:srgbClr val="606060"/>
                </a:solidFill>
                <a:latin typeface="Calibri"/>
                <a:ea typeface="DejaVu Sans"/>
              </a:rPr>
              <a:t>[</a:t>
            </a:r>
            <a:r>
              <a:rPr b="0" lang="zh-CN" sz="1400" spc="-1" strike="noStrike">
                <a:solidFill>
                  <a:srgbClr val="606060"/>
                </a:solidFill>
                <a:latin typeface="Calibri"/>
                <a:ea typeface="DejaVu Sans"/>
              </a:rPr>
              <a:t>放一个云边端的视频</a:t>
            </a:r>
            <a:r>
              <a:rPr b="0" lang="en-US" sz="1400" spc="-1" strike="noStrike">
                <a:solidFill>
                  <a:srgbClr val="606060"/>
                </a:solidFill>
                <a:latin typeface="Calibri"/>
                <a:ea typeface="DejaVu Sans"/>
              </a:rPr>
              <a:t>]</a:t>
            </a:r>
            <a:endParaRPr b="0" lang="en-US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Rectangle 1"/>
          <p:cNvSpPr/>
          <p:nvPr/>
        </p:nvSpPr>
        <p:spPr>
          <a:xfrm>
            <a:off x="0" y="0"/>
            <a:ext cx="12190680" cy="1004760"/>
          </a:xfrm>
          <a:prstGeom prst="rect">
            <a:avLst/>
          </a:prstGeom>
          <a:solidFill>
            <a:srgbClr val="1b3a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5" name="TextBox 2"/>
          <p:cNvSpPr/>
          <p:nvPr/>
        </p:nvSpPr>
        <p:spPr>
          <a:xfrm>
            <a:off x="548640" y="182880"/>
            <a:ext cx="11109240" cy="113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ts val="2599"/>
              </a:lnSpc>
              <a:spcAft>
                <a:spcPts val="201"/>
              </a:spcAft>
              <a:buNone/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  <a:ea typeface="Noto Sans CJK SC"/>
              </a:rPr>
              <a:t>From Passive Inference to Active Agent: </a:t>
            </a:r>
            <a:endParaRPr b="0" lang="en-US" sz="2800" spc="-1" strike="noStrike">
              <a:latin typeface="Arial"/>
            </a:endParaRPr>
          </a:p>
          <a:p>
            <a:pPr>
              <a:lnSpc>
                <a:spcPts val="2599"/>
              </a:lnSpc>
              <a:spcAft>
                <a:spcPts val="201"/>
              </a:spcAft>
              <a:buNone/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  <a:ea typeface="Noto Sans CJK SC"/>
              </a:rPr>
              <a:t>VLM-Based Navigation with Function Calling</a:t>
            </a:r>
            <a:endParaRPr b="0" lang="en-US" sz="2800" spc="-1" strike="noStrike">
              <a:latin typeface="Arial"/>
            </a:endParaRPr>
          </a:p>
          <a:p>
            <a:pPr>
              <a:lnSpc>
                <a:spcPts val="2599"/>
              </a:lnSpc>
              <a:spcAft>
                <a:spcPts val="201"/>
              </a:spcAft>
              <a:buNone/>
            </a:pPr>
            <a:endParaRPr b="0" lang="en-US" sz="2800" spc="-1" strike="noStrike">
              <a:latin typeface="Arial"/>
            </a:endParaRPr>
          </a:p>
        </p:txBody>
      </p:sp>
      <p:sp>
        <p:nvSpPr>
          <p:cNvPr id="116" name="Rectangle 4"/>
          <p:cNvSpPr/>
          <p:nvPr/>
        </p:nvSpPr>
        <p:spPr>
          <a:xfrm>
            <a:off x="0" y="1005840"/>
            <a:ext cx="12190680" cy="35640"/>
          </a:xfrm>
          <a:prstGeom prst="rect">
            <a:avLst/>
          </a:prstGeom>
          <a:solidFill>
            <a:srgbClr val="e87c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7" name="TextBox 5"/>
          <p:cNvSpPr/>
          <p:nvPr/>
        </p:nvSpPr>
        <p:spPr>
          <a:xfrm>
            <a:off x="731520" y="1371600"/>
            <a:ext cx="502812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ts val="2401"/>
              </a:lnSpc>
              <a:spcAft>
                <a:spcPts val="201"/>
              </a:spcAft>
              <a:buNone/>
            </a:pPr>
            <a:r>
              <a:rPr b="1" lang="en-US" sz="2000" spc="-1" strike="noStrike">
                <a:solidFill>
                  <a:srgbClr val="1b3a5c"/>
                </a:solidFill>
                <a:latin typeface="Calibri"/>
                <a:ea typeface="DejaVu Sans"/>
              </a:rPr>
              <a:t>Problem Statement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18" name="TextBox 6"/>
          <p:cNvSpPr/>
          <p:nvPr/>
        </p:nvSpPr>
        <p:spPr>
          <a:xfrm>
            <a:off x="731520" y="1920240"/>
            <a:ext cx="5028120" cy="275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ts val="2200"/>
              </a:lnSpc>
              <a:spcAft>
                <a:spcPts val="400"/>
              </a:spcAft>
              <a:buNone/>
            </a:pPr>
            <a:r>
              <a:rPr b="0" lang="en-US" sz="1500" spc="-1" strike="noStrike">
                <a:solidFill>
                  <a:srgbClr val="202020"/>
                </a:solidFill>
                <a:latin typeface="Calibri"/>
                <a:ea typeface="DejaVu Sans"/>
              </a:rPr>
              <a:t>●  </a:t>
            </a:r>
            <a:r>
              <a:rPr b="0" lang="en-US" sz="1500" spc="-1" strike="noStrike">
                <a:solidFill>
                  <a:srgbClr val="202020"/>
                </a:solidFill>
                <a:latin typeface="Calibri"/>
                <a:ea typeface="DejaVu Sans"/>
              </a:rPr>
              <a:t>Traditional robot navigation relies on pre-built maps (SLAM) and hand-coded rules — brittle in unknown environments</a:t>
            </a:r>
            <a:endParaRPr b="0" lang="en-US" sz="1500" spc="-1" strike="noStrike">
              <a:latin typeface="Arial"/>
            </a:endParaRPr>
          </a:p>
          <a:p>
            <a:pPr>
              <a:lnSpc>
                <a:spcPts val="2200"/>
              </a:lnSpc>
              <a:spcAft>
                <a:spcPts val="400"/>
              </a:spcAft>
              <a:buNone/>
            </a:pPr>
            <a:r>
              <a:rPr b="0" lang="en-US" sz="1500" spc="-1" strike="noStrike">
                <a:solidFill>
                  <a:srgbClr val="202020"/>
                </a:solidFill>
                <a:latin typeface="Calibri"/>
                <a:ea typeface="DejaVu Sans"/>
              </a:rPr>
              <a:t>●  </a:t>
            </a:r>
            <a:r>
              <a:rPr b="0" lang="en-US" sz="1500" spc="-1" strike="noStrike">
                <a:solidFill>
                  <a:srgbClr val="202020"/>
                </a:solidFill>
                <a:latin typeface="Calibri"/>
                <a:ea typeface="DejaVu Sans"/>
              </a:rPr>
              <a:t>Most VLM-robotics studies remain in simulation; real hardware deployment is rare</a:t>
            </a:r>
            <a:endParaRPr b="0" lang="en-US" sz="1500" spc="-1" strike="noStrike">
              <a:latin typeface="Arial"/>
            </a:endParaRPr>
          </a:p>
          <a:p>
            <a:pPr>
              <a:lnSpc>
                <a:spcPts val="2200"/>
              </a:lnSpc>
              <a:spcAft>
                <a:spcPts val="400"/>
              </a:spcAft>
              <a:buNone/>
            </a:pPr>
            <a:r>
              <a:rPr b="0" lang="en-US" sz="1500" spc="-1" strike="noStrike">
                <a:solidFill>
                  <a:srgbClr val="202020"/>
                </a:solidFill>
                <a:latin typeface="Calibri"/>
                <a:ea typeface="DejaVu Sans"/>
              </a:rPr>
              <a:t>●  </a:t>
            </a:r>
            <a:r>
              <a:rPr b="0" lang="en-US" sz="1500" spc="-1" strike="noStrike">
                <a:solidFill>
                  <a:srgbClr val="202020"/>
                </a:solidFill>
                <a:latin typeface="Calibri"/>
                <a:ea typeface="DejaVu Sans"/>
              </a:rPr>
              <a:t>Heterogeneous multi-robot collaboration with LLMs is largely unexplored</a:t>
            </a:r>
            <a:endParaRPr b="0" lang="en-US" sz="1500" spc="-1" strike="noStrike">
              <a:latin typeface="Arial"/>
            </a:endParaRPr>
          </a:p>
          <a:p>
            <a:pPr>
              <a:lnSpc>
                <a:spcPts val="2200"/>
              </a:lnSpc>
              <a:spcAft>
                <a:spcPts val="400"/>
              </a:spcAft>
              <a:buNone/>
            </a:pPr>
            <a:r>
              <a:rPr b="0" lang="en-US" sz="1500" spc="-1" strike="noStrike">
                <a:solidFill>
                  <a:srgbClr val="202020"/>
                </a:solidFill>
                <a:latin typeface="Calibri"/>
                <a:ea typeface="DejaVu Sans"/>
              </a:rPr>
              <a:t>●  </a:t>
            </a:r>
            <a:r>
              <a:rPr b="0" lang="en-US" sz="1500" spc="-1" strike="noStrike">
                <a:solidFill>
                  <a:srgbClr val="202020"/>
                </a:solidFill>
                <a:latin typeface="Calibri"/>
                <a:ea typeface="DejaVu Sans"/>
              </a:rPr>
              <a:t>Need: a map-free, vision-driven navigation system validated on real hardware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119" name="TextBox 7"/>
          <p:cNvSpPr/>
          <p:nvPr/>
        </p:nvSpPr>
        <p:spPr>
          <a:xfrm>
            <a:off x="6400800" y="1371600"/>
            <a:ext cx="502812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ts val="2401"/>
              </a:lnSpc>
              <a:spcAft>
                <a:spcPts val="201"/>
              </a:spcAft>
              <a:buNone/>
            </a:pPr>
            <a:r>
              <a:rPr b="1" lang="en-US" sz="2000" spc="-1" strike="noStrike">
                <a:solidFill>
                  <a:srgbClr val="2d9c6f"/>
                </a:solidFill>
                <a:latin typeface="Calibri"/>
                <a:ea typeface="DejaVu Sans"/>
              </a:rPr>
              <a:t>Our Approach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20" name="TextBox 8"/>
          <p:cNvSpPr/>
          <p:nvPr/>
        </p:nvSpPr>
        <p:spPr>
          <a:xfrm>
            <a:off x="6400800" y="1920240"/>
            <a:ext cx="5302440" cy="280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ts val="2200"/>
              </a:lnSpc>
              <a:spcAft>
                <a:spcPts val="400"/>
              </a:spcAft>
              <a:buNone/>
            </a:pPr>
            <a:r>
              <a:rPr b="0" lang="en-US" sz="1500" spc="-1" strike="noStrike">
                <a:solidFill>
                  <a:srgbClr val="202020"/>
                </a:solidFill>
                <a:latin typeface="Calibri"/>
                <a:ea typeface="DejaVu Sans"/>
              </a:rPr>
              <a:t>●  </a:t>
            </a:r>
            <a:r>
              <a:rPr b="0" lang="en-US" sz="1500" spc="-1" strike="noStrike">
                <a:solidFill>
                  <a:srgbClr val="202020"/>
                </a:solidFill>
                <a:latin typeface="Calibri"/>
                <a:ea typeface="DejaVu Sans"/>
              </a:rPr>
              <a:t>Replace SLAM with Gemini 2.5 Flash VLM as the cognitive planner</a:t>
            </a:r>
            <a:endParaRPr b="0" lang="en-US" sz="1500" spc="-1" strike="noStrike">
              <a:latin typeface="Arial"/>
            </a:endParaRPr>
          </a:p>
          <a:p>
            <a:pPr>
              <a:lnSpc>
                <a:spcPts val="2200"/>
              </a:lnSpc>
              <a:spcAft>
                <a:spcPts val="400"/>
              </a:spcAft>
              <a:buNone/>
            </a:pPr>
            <a:r>
              <a:rPr b="0" lang="en-US" sz="1500" spc="-1" strike="noStrike">
                <a:solidFill>
                  <a:srgbClr val="202020"/>
                </a:solidFill>
                <a:latin typeface="Calibri"/>
                <a:ea typeface="DejaVu Sans"/>
              </a:rPr>
              <a:t>●  </a:t>
            </a:r>
            <a:r>
              <a:rPr b="0" lang="en-US" sz="1500" spc="-1" strike="noStrike">
                <a:solidFill>
                  <a:srgbClr val="202020"/>
                </a:solidFill>
                <a:latin typeface="Calibri"/>
                <a:ea typeface="DejaVu Sans"/>
              </a:rPr>
              <a:t>Two-stage architecture: single-turn pipeline → multi-turn Function Calling Agent</a:t>
            </a:r>
            <a:endParaRPr b="0" lang="en-US" sz="1500" spc="-1" strike="noStrike">
              <a:latin typeface="Arial"/>
            </a:endParaRPr>
          </a:p>
          <a:p>
            <a:pPr>
              <a:lnSpc>
                <a:spcPts val="2200"/>
              </a:lnSpc>
              <a:spcAft>
                <a:spcPts val="400"/>
              </a:spcAft>
              <a:buNone/>
            </a:pPr>
            <a:r>
              <a:rPr b="0" lang="en-US" sz="1500" spc="-1" strike="noStrike">
                <a:solidFill>
                  <a:srgbClr val="202020"/>
                </a:solidFill>
                <a:latin typeface="Calibri"/>
                <a:ea typeface="DejaVu Sans"/>
              </a:rPr>
              <a:t>●  </a:t>
            </a:r>
            <a:r>
              <a:rPr b="0" lang="en-US" sz="1500" spc="-1" strike="noStrike">
                <a:solidFill>
                  <a:srgbClr val="202020"/>
                </a:solidFill>
                <a:latin typeface="Calibri"/>
                <a:ea typeface="DejaVu Sans"/>
              </a:rPr>
              <a:t>Skill-based YAML framework for task-specific prompts</a:t>
            </a:r>
            <a:endParaRPr b="0" lang="en-US" sz="1500" spc="-1" strike="noStrike">
              <a:latin typeface="Arial"/>
            </a:endParaRPr>
          </a:p>
          <a:p>
            <a:pPr>
              <a:lnSpc>
                <a:spcPts val="2200"/>
              </a:lnSpc>
              <a:spcAft>
                <a:spcPts val="400"/>
              </a:spcAft>
              <a:buNone/>
            </a:pPr>
            <a:r>
              <a:rPr b="0" lang="en-US" sz="1500" spc="-1" strike="noStrike">
                <a:solidFill>
                  <a:srgbClr val="202020"/>
                </a:solidFill>
                <a:latin typeface="Calibri"/>
                <a:ea typeface="DejaVu Sans"/>
              </a:rPr>
              <a:t>●  </a:t>
            </a:r>
            <a:r>
              <a:rPr b="0" lang="en-US" sz="1500" spc="-1" strike="noStrike">
                <a:solidFill>
                  <a:srgbClr val="202020"/>
                </a:solidFill>
                <a:latin typeface="Calibri"/>
                <a:ea typeface="DejaVu Sans"/>
              </a:rPr>
              <a:t>Deployed on real robot (Jetson Orin Nano + depth camera)</a:t>
            </a:r>
            <a:endParaRPr b="0" lang="en-US" sz="1500" spc="-1" strike="noStrike">
              <a:latin typeface="Arial"/>
            </a:endParaRPr>
          </a:p>
          <a:p>
            <a:pPr>
              <a:lnSpc>
                <a:spcPts val="2200"/>
              </a:lnSpc>
              <a:spcAft>
                <a:spcPts val="400"/>
              </a:spcAft>
              <a:buNone/>
            </a:pPr>
            <a:endParaRPr b="0" lang="en-US" sz="1500" spc="-1" strike="noStrike">
              <a:latin typeface="Arial"/>
            </a:endParaRPr>
          </a:p>
        </p:txBody>
      </p:sp>
      <p:sp>
        <p:nvSpPr>
          <p:cNvPr id="121" name="Rectangle 9"/>
          <p:cNvSpPr/>
          <p:nvPr/>
        </p:nvSpPr>
        <p:spPr>
          <a:xfrm>
            <a:off x="731520" y="5303520"/>
            <a:ext cx="10697400" cy="913320"/>
          </a:xfrm>
          <a:prstGeom prst="rect">
            <a:avLst/>
          </a:prstGeom>
          <a:solidFill>
            <a:srgbClr val="d6e8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2" name="TextBox 10"/>
          <p:cNvSpPr/>
          <p:nvPr/>
        </p:nvSpPr>
        <p:spPr>
          <a:xfrm>
            <a:off x="1097280" y="5394960"/>
            <a:ext cx="1005732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ts val="1800"/>
              </a:lnSpc>
              <a:spcAft>
                <a:spcPts val="201"/>
              </a:spcAft>
              <a:buNone/>
            </a:pPr>
            <a:r>
              <a:rPr b="0" lang="en-US" sz="1500" spc="-1" strike="noStrike">
                <a:solidFill>
                  <a:srgbClr val="1b3a5c"/>
                </a:solidFill>
                <a:latin typeface="Calibri"/>
                <a:ea typeface="DejaVu Sans"/>
              </a:rPr>
              <a:t>Key Insight:  A well-crafted prompt + function-calling tools can replace complex hand-tuned planning algorithms — achieving real-world indoor navigation without any pre-built map.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123" name="TextBox 11"/>
          <p:cNvSpPr/>
          <p:nvPr/>
        </p:nvSpPr>
        <p:spPr>
          <a:xfrm>
            <a:off x="10789920" y="6400800"/>
            <a:ext cx="109620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ts val="1301"/>
              </a:lnSpc>
              <a:spcAft>
                <a:spcPts val="201"/>
              </a:spcAft>
              <a:buNone/>
            </a:pPr>
            <a:r>
              <a:rPr b="0" lang="en-US" sz="1100" spc="-1" strike="noStrike">
                <a:solidFill>
                  <a:srgbClr val="606060"/>
                </a:solidFill>
                <a:latin typeface="Calibri"/>
                <a:ea typeface="DejaVu Sans"/>
              </a:rPr>
              <a:t>5/10</a:t>
            </a:r>
            <a:endParaRPr b="0" lang="en-US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Rectangle 1"/>
          <p:cNvSpPr/>
          <p:nvPr/>
        </p:nvSpPr>
        <p:spPr>
          <a:xfrm>
            <a:off x="0" y="0"/>
            <a:ext cx="12190680" cy="1004760"/>
          </a:xfrm>
          <a:prstGeom prst="rect">
            <a:avLst/>
          </a:prstGeom>
          <a:solidFill>
            <a:srgbClr val="1b3a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5" name="TextBox 2"/>
          <p:cNvSpPr/>
          <p:nvPr/>
        </p:nvSpPr>
        <p:spPr>
          <a:xfrm>
            <a:off x="548640" y="182880"/>
            <a:ext cx="9142920" cy="50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ts val="3300"/>
              </a:lnSpc>
              <a:spcAft>
                <a:spcPts val="201"/>
              </a:spcAft>
              <a:buNone/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  <a:ea typeface="DejaVu Sans"/>
              </a:rPr>
              <a:t>System Architecture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26" name="TextBox 3"/>
          <p:cNvSpPr/>
          <p:nvPr/>
        </p:nvSpPr>
        <p:spPr>
          <a:xfrm>
            <a:off x="548640" y="640080"/>
            <a:ext cx="9142920" cy="29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ts val="1599"/>
              </a:lnSpc>
              <a:spcAft>
                <a:spcPts val="201"/>
              </a:spcAft>
              <a:buNone/>
            </a:pPr>
            <a:r>
              <a:rPr b="0" lang="en-US" sz="1400" spc="-1" strike="noStrike">
                <a:solidFill>
                  <a:srgbClr val="a0c8e8"/>
                </a:solidFill>
                <a:latin typeface="Calibri"/>
                <a:ea typeface="DejaVu Sans"/>
              </a:rPr>
              <a:t>Four-layer modular design on ROS2 Humble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27" name="Rectangle 4"/>
          <p:cNvSpPr/>
          <p:nvPr/>
        </p:nvSpPr>
        <p:spPr>
          <a:xfrm>
            <a:off x="0" y="1005840"/>
            <a:ext cx="12190680" cy="35640"/>
          </a:xfrm>
          <a:prstGeom prst="rect">
            <a:avLst/>
          </a:prstGeom>
          <a:solidFill>
            <a:srgbClr val="e87c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8" name="Rectangle 5"/>
          <p:cNvSpPr/>
          <p:nvPr/>
        </p:nvSpPr>
        <p:spPr>
          <a:xfrm>
            <a:off x="731520" y="1371600"/>
            <a:ext cx="6856920" cy="1050480"/>
          </a:xfrm>
          <a:prstGeom prst="rect">
            <a:avLst/>
          </a:prstGeom>
          <a:solidFill>
            <a:srgbClr val="1b3a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9" name="TextBox 6"/>
          <p:cNvSpPr/>
          <p:nvPr/>
        </p:nvSpPr>
        <p:spPr>
          <a:xfrm>
            <a:off x="914400" y="1463040"/>
            <a:ext cx="3656880" cy="33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ts val="1899"/>
              </a:lnSpc>
              <a:spcAft>
                <a:spcPts val="201"/>
              </a:spcAft>
              <a:buNone/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DejaVu Sans"/>
              </a:rPr>
              <a:t>Cognitive Planning Layer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30" name="TextBox 7"/>
          <p:cNvSpPr/>
          <p:nvPr/>
        </p:nvSpPr>
        <p:spPr>
          <a:xfrm>
            <a:off x="914400" y="1874520"/>
            <a:ext cx="6399720" cy="28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ts val="1500"/>
              </a:lnSpc>
              <a:spcAft>
                <a:spcPts val="201"/>
              </a:spcAft>
              <a:buNone/>
            </a:pPr>
            <a:r>
              <a:rPr b="0" lang="en-US" sz="1300" spc="-1" strike="noStrike">
                <a:solidFill>
                  <a:srgbClr val="e0e0e0"/>
                </a:solidFill>
                <a:latin typeface="Calibri"/>
                <a:ea typeface="DejaVu Sans"/>
              </a:rPr>
              <a:t>Gemini 2.5 Flash API  |  Skill YAML Profiles  |  Function Calling Agent Loop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31" name="TextBox 8"/>
          <p:cNvSpPr/>
          <p:nvPr/>
        </p:nvSpPr>
        <p:spPr>
          <a:xfrm>
            <a:off x="3840480" y="2377440"/>
            <a:ext cx="456120" cy="33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ts val="1899"/>
              </a:lnSpc>
              <a:spcAft>
                <a:spcPts val="201"/>
              </a:spcAft>
              <a:buNone/>
            </a:pPr>
            <a:r>
              <a:rPr b="0" lang="en-US" sz="1600" spc="-1" strike="noStrike">
                <a:solidFill>
                  <a:srgbClr val="e87c2a"/>
                </a:solidFill>
                <a:latin typeface="Calibri"/>
                <a:ea typeface="DejaVu Sans"/>
              </a:rPr>
              <a:t>▼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32" name="Rectangle 9"/>
          <p:cNvSpPr/>
          <p:nvPr/>
        </p:nvSpPr>
        <p:spPr>
          <a:xfrm>
            <a:off x="731520" y="2560320"/>
            <a:ext cx="6856920" cy="1050480"/>
          </a:xfrm>
          <a:prstGeom prst="rect">
            <a:avLst/>
          </a:prstGeom>
          <a:solidFill>
            <a:srgbClr val="2e6b9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3" name="TextBox 10"/>
          <p:cNvSpPr/>
          <p:nvPr/>
        </p:nvSpPr>
        <p:spPr>
          <a:xfrm>
            <a:off x="914400" y="2651760"/>
            <a:ext cx="2742120" cy="33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ts val="1899"/>
              </a:lnSpc>
              <a:spcAft>
                <a:spcPts val="201"/>
              </a:spcAft>
              <a:buNone/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DejaVu Sans"/>
              </a:rPr>
              <a:t>Perception Layer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34" name="TextBox 11"/>
          <p:cNvSpPr/>
          <p:nvPr/>
        </p:nvSpPr>
        <p:spPr>
          <a:xfrm>
            <a:off x="914400" y="3063240"/>
            <a:ext cx="6399720" cy="28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ts val="1500"/>
              </a:lnSpc>
              <a:spcAft>
                <a:spcPts val="201"/>
              </a:spcAft>
              <a:buNone/>
            </a:pPr>
            <a:r>
              <a:rPr b="0" lang="en-US" sz="1300" spc="-1" strike="noStrike">
                <a:solidFill>
                  <a:srgbClr val="e0e0e0"/>
                </a:solidFill>
                <a:latin typeface="Calibri"/>
                <a:ea typeface="DejaVu Sans"/>
              </a:rPr>
              <a:t>RGB/Depth Processing  |  TF2 Coordinate Transform  |  Semantic Map Cache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35" name="TextBox 12"/>
          <p:cNvSpPr/>
          <p:nvPr/>
        </p:nvSpPr>
        <p:spPr>
          <a:xfrm>
            <a:off x="3840480" y="3566160"/>
            <a:ext cx="456120" cy="33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ts val="1899"/>
              </a:lnSpc>
              <a:spcAft>
                <a:spcPts val="201"/>
              </a:spcAft>
              <a:buNone/>
            </a:pPr>
            <a:r>
              <a:rPr b="0" lang="en-US" sz="1600" spc="-1" strike="noStrike">
                <a:solidFill>
                  <a:srgbClr val="e87c2a"/>
                </a:solidFill>
                <a:latin typeface="Calibri"/>
                <a:ea typeface="DejaVu Sans"/>
              </a:rPr>
              <a:t>▼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36" name="Rectangle 13"/>
          <p:cNvSpPr/>
          <p:nvPr/>
        </p:nvSpPr>
        <p:spPr>
          <a:xfrm>
            <a:off x="731520" y="3749040"/>
            <a:ext cx="6856920" cy="1050480"/>
          </a:xfrm>
          <a:prstGeom prst="rect">
            <a:avLst/>
          </a:prstGeom>
          <a:solidFill>
            <a:srgbClr val="458b7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7" name="TextBox 14"/>
          <p:cNvSpPr/>
          <p:nvPr/>
        </p:nvSpPr>
        <p:spPr>
          <a:xfrm>
            <a:off x="914400" y="3840480"/>
            <a:ext cx="3656880" cy="33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ts val="1899"/>
              </a:lnSpc>
              <a:spcAft>
                <a:spcPts val="201"/>
              </a:spcAft>
              <a:buNone/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DejaVu Sans"/>
              </a:rPr>
              <a:t>Control Execution Layer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38" name="TextBox 15"/>
          <p:cNvSpPr/>
          <p:nvPr/>
        </p:nvSpPr>
        <p:spPr>
          <a:xfrm>
            <a:off x="914400" y="4251960"/>
            <a:ext cx="6399720" cy="28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ts val="1500"/>
              </a:lnSpc>
              <a:spcAft>
                <a:spcPts val="201"/>
              </a:spcAft>
              <a:buNone/>
            </a:pPr>
            <a:r>
              <a:rPr b="0" lang="en-US" sz="1300" spc="-1" strike="noStrike">
                <a:solidFill>
                  <a:srgbClr val="e0e0e0"/>
                </a:solidFill>
                <a:latin typeface="Calibri"/>
                <a:ea typeface="DejaVu Sans"/>
              </a:rPr>
              <a:t>Pure Pursuit + PID Tracker  |  Reactive Collision Avoidance (Depth ROI)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39" name="TextBox 16"/>
          <p:cNvSpPr/>
          <p:nvPr/>
        </p:nvSpPr>
        <p:spPr>
          <a:xfrm>
            <a:off x="3840480" y="4754880"/>
            <a:ext cx="456120" cy="33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ts val="1899"/>
              </a:lnSpc>
              <a:spcAft>
                <a:spcPts val="201"/>
              </a:spcAft>
              <a:buNone/>
            </a:pPr>
            <a:r>
              <a:rPr b="0" lang="en-US" sz="1600" spc="-1" strike="noStrike">
                <a:solidFill>
                  <a:srgbClr val="e87c2a"/>
                </a:solidFill>
                <a:latin typeface="Calibri"/>
                <a:ea typeface="DejaVu Sans"/>
              </a:rPr>
              <a:t>▼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40" name="Rectangle 17"/>
          <p:cNvSpPr/>
          <p:nvPr/>
        </p:nvSpPr>
        <p:spPr>
          <a:xfrm>
            <a:off x="685800" y="4937760"/>
            <a:ext cx="6856920" cy="1050480"/>
          </a:xfrm>
          <a:prstGeom prst="rect">
            <a:avLst/>
          </a:prstGeom>
          <a:solidFill>
            <a:srgbClr val="6b6b6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41" name="TextBox 18"/>
          <p:cNvSpPr/>
          <p:nvPr/>
        </p:nvSpPr>
        <p:spPr>
          <a:xfrm>
            <a:off x="914400" y="5029200"/>
            <a:ext cx="3885480" cy="33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ts val="1899"/>
              </a:lnSpc>
              <a:spcAft>
                <a:spcPts val="201"/>
              </a:spcAft>
              <a:buNone/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DejaVu Sans"/>
              </a:rPr>
              <a:t>Hardware Abstraction Layer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42" name="TextBox 19"/>
          <p:cNvSpPr/>
          <p:nvPr/>
        </p:nvSpPr>
        <p:spPr>
          <a:xfrm>
            <a:off x="914400" y="5440680"/>
            <a:ext cx="6399720" cy="4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ts val="1500"/>
              </a:lnSpc>
              <a:spcAft>
                <a:spcPts val="201"/>
              </a:spcAft>
              <a:buNone/>
            </a:pPr>
            <a:r>
              <a:rPr b="0" lang="en-US" sz="1300" spc="-1" strike="noStrike">
                <a:solidFill>
                  <a:srgbClr val="e0e0e0"/>
                </a:solidFill>
                <a:latin typeface="Calibri"/>
                <a:ea typeface="DejaVu Sans"/>
              </a:rPr>
              <a:t>Mecanum Chassis + STM32  |  Orbbec Gemini 336 Depth Camera  |  IMU  |  Jetson Orin Nano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43" name="TextBox 20"/>
          <p:cNvSpPr/>
          <p:nvPr/>
        </p:nvSpPr>
        <p:spPr>
          <a:xfrm>
            <a:off x="8229600" y="1371600"/>
            <a:ext cx="3656520" cy="34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ts val="2001"/>
              </a:lnSpc>
              <a:spcAft>
                <a:spcPts val="201"/>
              </a:spcAft>
              <a:buNone/>
            </a:pPr>
            <a:r>
              <a:rPr b="1" lang="en-US" sz="1700" spc="-1" strike="noStrike">
                <a:solidFill>
                  <a:srgbClr val="1b3a5c"/>
                </a:solidFill>
                <a:latin typeface="Calibri"/>
                <a:ea typeface="DejaVu Sans"/>
              </a:rPr>
              <a:t>End-to-End Data Flow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144" name="TextBox 21"/>
          <p:cNvSpPr/>
          <p:nvPr/>
        </p:nvSpPr>
        <p:spPr>
          <a:xfrm>
            <a:off x="8229600" y="1920240"/>
            <a:ext cx="3656520" cy="275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ts val="1899"/>
              </a:lnSpc>
              <a:spcAft>
                <a:spcPts val="400"/>
              </a:spcAft>
              <a:buNone/>
            </a:pPr>
            <a:r>
              <a:rPr b="0" lang="en-US" sz="1300" spc="-1" strike="noStrike">
                <a:solidFill>
                  <a:srgbClr val="202020"/>
                </a:solidFill>
                <a:latin typeface="Calibri"/>
                <a:ea typeface="DejaVu Sans"/>
              </a:rPr>
              <a:t>●  </a:t>
            </a:r>
            <a:r>
              <a:rPr b="0" lang="en-US" sz="1300" spc="-1" strike="noStrike">
                <a:solidFill>
                  <a:srgbClr val="202020"/>
                </a:solidFill>
                <a:latin typeface="Calibri"/>
                <a:ea typeface="DejaVu Sans"/>
              </a:rPr>
              <a:t>1. RGB frame → Gemini API</a:t>
            </a:r>
            <a:endParaRPr b="0" lang="en-US" sz="1300" spc="-1" strike="noStrike">
              <a:latin typeface="Arial"/>
            </a:endParaRPr>
          </a:p>
          <a:p>
            <a:pPr>
              <a:lnSpc>
                <a:spcPts val="1899"/>
              </a:lnSpc>
              <a:spcAft>
                <a:spcPts val="400"/>
              </a:spcAft>
              <a:buNone/>
            </a:pPr>
            <a:r>
              <a:rPr b="0" lang="en-US" sz="1300" spc="-1" strike="noStrike">
                <a:solidFill>
                  <a:srgbClr val="202020"/>
                </a:solidFill>
                <a:latin typeface="Calibri"/>
                <a:ea typeface="DejaVu Sans"/>
              </a:rPr>
              <a:t>●  </a:t>
            </a:r>
            <a:r>
              <a:rPr b="0" lang="en-US" sz="1300" spc="-1" strike="noStrike">
                <a:solidFill>
                  <a:srgbClr val="202020"/>
                </a:solidFill>
                <a:latin typeface="Calibri"/>
                <a:ea typeface="DejaVu Sans"/>
              </a:rPr>
              <a:t>2. Gemini returns pixel coords / odom waypoints</a:t>
            </a:r>
            <a:endParaRPr b="0" lang="en-US" sz="1300" spc="-1" strike="noStrike">
              <a:latin typeface="Arial"/>
            </a:endParaRPr>
          </a:p>
          <a:p>
            <a:pPr>
              <a:lnSpc>
                <a:spcPts val="1899"/>
              </a:lnSpc>
              <a:spcAft>
                <a:spcPts val="400"/>
              </a:spcAft>
              <a:buNone/>
            </a:pPr>
            <a:r>
              <a:rPr b="0" lang="en-US" sz="1300" spc="-1" strike="noStrike">
                <a:solidFill>
                  <a:srgbClr val="202020"/>
                </a:solidFill>
                <a:latin typeface="Calibri"/>
                <a:ea typeface="DejaVu Sans"/>
              </a:rPr>
              <a:t>●  </a:t>
            </a:r>
            <a:r>
              <a:rPr b="0" lang="en-US" sz="1300" spc="-1" strike="noStrike">
                <a:solidFill>
                  <a:srgbClr val="202020"/>
                </a:solidFill>
                <a:latin typeface="Calibri"/>
                <a:ea typeface="DejaVu Sans"/>
              </a:rPr>
              <a:t>3. Depth reprojection → 3D path (single-turn)</a:t>
            </a:r>
            <a:br>
              <a:rPr sz="1300"/>
            </a:br>
            <a:r>
              <a:rPr b="0" lang="en-US" sz="1300" spc="-1" strike="noStrike">
                <a:solidFill>
                  <a:srgbClr val="202020"/>
                </a:solidFill>
                <a:latin typeface="Calibri"/>
                <a:ea typeface="DejaVu Sans"/>
              </a:rPr>
              <a:t>    or direct odom coords (agent mode)</a:t>
            </a:r>
            <a:endParaRPr b="0" lang="en-US" sz="1300" spc="-1" strike="noStrike">
              <a:latin typeface="Arial"/>
            </a:endParaRPr>
          </a:p>
          <a:p>
            <a:pPr>
              <a:lnSpc>
                <a:spcPts val="1899"/>
              </a:lnSpc>
              <a:spcAft>
                <a:spcPts val="400"/>
              </a:spcAft>
              <a:buNone/>
            </a:pPr>
            <a:r>
              <a:rPr b="0" lang="en-US" sz="1300" spc="-1" strike="noStrike">
                <a:solidFill>
                  <a:srgbClr val="202020"/>
                </a:solidFill>
                <a:latin typeface="Calibri"/>
                <a:ea typeface="DejaVu Sans"/>
              </a:rPr>
              <a:t>●  </a:t>
            </a:r>
            <a:r>
              <a:rPr b="0" lang="en-US" sz="1300" spc="-1" strike="noStrike">
                <a:solidFill>
                  <a:srgbClr val="202020"/>
                </a:solidFill>
                <a:latin typeface="Calibri"/>
                <a:ea typeface="DejaVu Sans"/>
              </a:rPr>
              <a:t>4. PID tracker → /cmd_vel</a:t>
            </a:r>
            <a:endParaRPr b="0" lang="en-US" sz="1300" spc="-1" strike="noStrike">
              <a:latin typeface="Arial"/>
            </a:endParaRPr>
          </a:p>
          <a:p>
            <a:pPr>
              <a:lnSpc>
                <a:spcPts val="1899"/>
              </a:lnSpc>
              <a:spcAft>
                <a:spcPts val="400"/>
              </a:spcAft>
              <a:buNone/>
            </a:pPr>
            <a:r>
              <a:rPr b="0" lang="en-US" sz="1300" spc="-1" strike="noStrike">
                <a:solidFill>
                  <a:srgbClr val="202020"/>
                </a:solidFill>
                <a:latin typeface="Calibri"/>
                <a:ea typeface="DejaVu Sans"/>
              </a:rPr>
              <a:t>●  </a:t>
            </a:r>
            <a:r>
              <a:rPr b="0" lang="en-US" sz="1300" spc="-1" strike="noStrike">
                <a:solidFill>
                  <a:srgbClr val="202020"/>
                </a:solidFill>
                <a:latin typeface="Calibri"/>
                <a:ea typeface="DejaVu Sans"/>
              </a:rPr>
              <a:t>5. Obstacle detected → re-trigger Gemini</a:t>
            </a:r>
            <a:endParaRPr b="0" lang="en-US" sz="1300" spc="-1" strike="noStrike">
              <a:latin typeface="Arial"/>
            </a:endParaRPr>
          </a:p>
          <a:p>
            <a:pPr>
              <a:lnSpc>
                <a:spcPts val="1899"/>
              </a:lnSpc>
              <a:spcAft>
                <a:spcPts val="400"/>
              </a:spcAft>
              <a:buNone/>
            </a:pPr>
            <a:r>
              <a:rPr b="0" lang="en-US" sz="1300" spc="-1" strike="noStrike">
                <a:solidFill>
                  <a:srgbClr val="202020"/>
                </a:solidFill>
                <a:latin typeface="Calibri"/>
                <a:ea typeface="DejaVu Sans"/>
              </a:rPr>
              <a:t>●  </a:t>
            </a:r>
            <a:r>
              <a:rPr b="0" lang="en-US" sz="1300" spc="-1" strike="noStrike">
                <a:solidFill>
                  <a:srgbClr val="202020"/>
                </a:solidFill>
                <a:latin typeface="Calibri"/>
                <a:ea typeface="DejaVu Sans"/>
              </a:rPr>
              <a:t>6. Semantic labels stored in memory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45" name="TextBox 22"/>
          <p:cNvSpPr/>
          <p:nvPr/>
        </p:nvSpPr>
        <p:spPr>
          <a:xfrm>
            <a:off x="10789920" y="6400800"/>
            <a:ext cx="109620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ts val="1301"/>
              </a:lnSpc>
              <a:spcAft>
                <a:spcPts val="201"/>
              </a:spcAft>
              <a:buNone/>
            </a:pPr>
            <a:r>
              <a:rPr b="0" lang="en-US" sz="1100" spc="-1" strike="noStrike">
                <a:solidFill>
                  <a:srgbClr val="606060"/>
                </a:solidFill>
                <a:latin typeface="Calibri"/>
                <a:ea typeface="DejaVu Sans"/>
              </a:rPr>
              <a:t>6/10</a:t>
            </a:r>
            <a:endParaRPr b="0" lang="en-US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Rectangle 1"/>
          <p:cNvSpPr/>
          <p:nvPr/>
        </p:nvSpPr>
        <p:spPr>
          <a:xfrm>
            <a:off x="0" y="0"/>
            <a:ext cx="12190680" cy="1004760"/>
          </a:xfrm>
          <a:prstGeom prst="rect">
            <a:avLst/>
          </a:prstGeom>
          <a:solidFill>
            <a:srgbClr val="1b3a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47" name="TextBox 2"/>
          <p:cNvSpPr/>
          <p:nvPr/>
        </p:nvSpPr>
        <p:spPr>
          <a:xfrm>
            <a:off x="548640" y="182880"/>
            <a:ext cx="9142920" cy="50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ts val="3300"/>
              </a:lnSpc>
              <a:spcAft>
                <a:spcPts val="201"/>
              </a:spcAft>
              <a:buNone/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  <a:ea typeface="DejaVu Sans"/>
              </a:rPr>
              <a:t>Two Operating Modes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48" name="TextBox 3"/>
          <p:cNvSpPr/>
          <p:nvPr/>
        </p:nvSpPr>
        <p:spPr>
          <a:xfrm>
            <a:off x="548640" y="640080"/>
            <a:ext cx="9142920" cy="29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ts val="1599"/>
              </a:lnSpc>
              <a:spcAft>
                <a:spcPts val="201"/>
              </a:spcAft>
              <a:buNone/>
            </a:pPr>
            <a:r>
              <a:rPr b="0" lang="en-US" sz="1400" spc="-1" strike="noStrike">
                <a:solidFill>
                  <a:srgbClr val="a0c8e8"/>
                </a:solidFill>
                <a:latin typeface="Calibri"/>
                <a:ea typeface="DejaVu Sans"/>
              </a:rPr>
              <a:t>Single-Turn Pipeline vs. Multi-Turn Function Calling Agent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49" name="Rectangle 4"/>
          <p:cNvSpPr/>
          <p:nvPr/>
        </p:nvSpPr>
        <p:spPr>
          <a:xfrm>
            <a:off x="0" y="1005840"/>
            <a:ext cx="12190680" cy="35640"/>
          </a:xfrm>
          <a:prstGeom prst="rect">
            <a:avLst/>
          </a:prstGeom>
          <a:solidFill>
            <a:srgbClr val="e87c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0" name="Rectangle 5"/>
          <p:cNvSpPr/>
          <p:nvPr/>
        </p:nvSpPr>
        <p:spPr>
          <a:xfrm>
            <a:off x="640440" y="1326240"/>
            <a:ext cx="5302440" cy="4845240"/>
          </a:xfrm>
          <a:prstGeom prst="rect">
            <a:avLst/>
          </a:prstGeom>
          <a:solidFill>
            <a:srgbClr val="d6e8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1" name="TextBox 6"/>
          <p:cNvSpPr/>
          <p:nvPr/>
        </p:nvSpPr>
        <p:spPr>
          <a:xfrm>
            <a:off x="731520" y="1463040"/>
            <a:ext cx="493668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ts val="2200"/>
              </a:lnSpc>
              <a:spcAft>
                <a:spcPts val="201"/>
              </a:spcAft>
              <a:buNone/>
            </a:pPr>
            <a:r>
              <a:rPr b="1" lang="en-US" sz="1900" spc="-1" strike="noStrike">
                <a:solidFill>
                  <a:srgbClr val="1b3a5c"/>
                </a:solidFill>
                <a:latin typeface="Calibri"/>
                <a:ea typeface="DejaVu Sans"/>
              </a:rPr>
              <a:t>Mode A: Single-Turn Pipeline</a:t>
            </a:r>
            <a:endParaRPr b="0" lang="en-US" sz="1900" spc="-1" strike="noStrike">
              <a:latin typeface="Arial"/>
            </a:endParaRPr>
          </a:p>
        </p:txBody>
      </p:sp>
      <p:sp>
        <p:nvSpPr>
          <p:cNvPr id="152" name="TextBox 7"/>
          <p:cNvSpPr/>
          <p:nvPr/>
        </p:nvSpPr>
        <p:spPr>
          <a:xfrm>
            <a:off x="731520" y="2103120"/>
            <a:ext cx="4936680" cy="279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ts val="2100"/>
              </a:lnSpc>
              <a:spcAft>
                <a:spcPts val="400"/>
              </a:spcAft>
              <a:buNone/>
            </a:pPr>
            <a:r>
              <a:rPr b="0" lang="en-US" sz="1400" spc="-1" strike="noStrike">
                <a:solidFill>
                  <a:srgbClr val="202020"/>
                </a:solidFill>
                <a:latin typeface="Calibri"/>
                <a:ea typeface="DejaVu Sans"/>
              </a:rPr>
              <a:t>●  </a:t>
            </a:r>
            <a:r>
              <a:rPr b="0" lang="en-US" sz="1400" spc="-1" strike="noStrike">
                <a:solidFill>
                  <a:srgbClr val="202020"/>
                </a:solidFill>
                <a:latin typeface="Calibri"/>
                <a:ea typeface="DejaVu Sans"/>
              </a:rPr>
              <a:t>track_path triggers → capture RGB image</a:t>
            </a:r>
            <a:endParaRPr b="0" lang="en-US" sz="1400" spc="-1" strike="noStrike">
              <a:latin typeface="Arial"/>
            </a:endParaRPr>
          </a:p>
          <a:p>
            <a:pPr>
              <a:lnSpc>
                <a:spcPts val="2100"/>
              </a:lnSpc>
              <a:spcAft>
                <a:spcPts val="400"/>
              </a:spcAft>
              <a:buNone/>
            </a:pPr>
            <a:r>
              <a:rPr b="0" lang="en-US" sz="1400" spc="-1" strike="noStrike">
                <a:solidFill>
                  <a:srgbClr val="202020"/>
                </a:solidFill>
                <a:latin typeface="Calibri"/>
                <a:ea typeface="DejaVu Sans"/>
              </a:rPr>
              <a:t>●  </a:t>
            </a:r>
            <a:r>
              <a:rPr b="0" lang="en-US" sz="1400" spc="-1" strike="noStrike">
                <a:solidFill>
                  <a:srgbClr val="202020"/>
                </a:solidFill>
                <a:latin typeface="Calibri"/>
                <a:ea typeface="DejaVu Sans"/>
              </a:rPr>
              <a:t>Send image to Gemini → returns pixel coordinates</a:t>
            </a:r>
            <a:endParaRPr b="0" lang="en-US" sz="1400" spc="-1" strike="noStrike">
              <a:latin typeface="Arial"/>
            </a:endParaRPr>
          </a:p>
          <a:p>
            <a:pPr>
              <a:lnSpc>
                <a:spcPts val="2100"/>
              </a:lnSpc>
              <a:spcAft>
                <a:spcPts val="400"/>
              </a:spcAft>
              <a:buNone/>
            </a:pPr>
            <a:r>
              <a:rPr b="0" lang="en-US" sz="1400" spc="-1" strike="noStrike">
                <a:solidFill>
                  <a:srgbClr val="202020"/>
                </a:solidFill>
                <a:latin typeface="Calibri"/>
                <a:ea typeface="DejaVu Sans"/>
              </a:rPr>
              <a:t>●  </a:t>
            </a:r>
            <a:r>
              <a:rPr b="0" lang="en-US" sz="1400" spc="-1" strike="noStrike">
                <a:solidFill>
                  <a:srgbClr val="202020"/>
                </a:solidFill>
                <a:latin typeface="Calibri"/>
                <a:ea typeface="DejaVu Sans"/>
              </a:rPr>
              <a:t>image_conversion: depth reprojection + TF2 → 3D odom path</a:t>
            </a:r>
            <a:endParaRPr b="0" lang="en-US" sz="1400" spc="-1" strike="noStrike">
              <a:latin typeface="Arial"/>
            </a:endParaRPr>
          </a:p>
          <a:p>
            <a:pPr>
              <a:lnSpc>
                <a:spcPts val="2100"/>
              </a:lnSpc>
              <a:spcAft>
                <a:spcPts val="400"/>
              </a:spcAft>
              <a:buNone/>
            </a:pPr>
            <a:r>
              <a:rPr b="0" lang="en-US" sz="1400" spc="-1" strike="noStrike">
                <a:solidFill>
                  <a:srgbClr val="202020"/>
                </a:solidFill>
                <a:latin typeface="Calibri"/>
                <a:ea typeface="DejaVu Sans"/>
              </a:rPr>
              <a:t>●  </a:t>
            </a:r>
            <a:r>
              <a:rPr b="0" lang="en-US" sz="1400" spc="-1" strike="noStrike">
                <a:solidFill>
                  <a:srgbClr val="202020"/>
                </a:solidFill>
                <a:latin typeface="Calibri"/>
                <a:ea typeface="DejaVu Sans"/>
              </a:rPr>
              <a:t>PID tracker follows path → re-trigger on completion</a:t>
            </a:r>
            <a:endParaRPr b="0" lang="en-US" sz="1400" spc="-1" strike="noStrike">
              <a:latin typeface="Arial"/>
            </a:endParaRPr>
          </a:p>
          <a:p>
            <a:pPr>
              <a:lnSpc>
                <a:spcPts val="2100"/>
              </a:lnSpc>
              <a:spcAft>
                <a:spcPts val="400"/>
              </a:spcAft>
              <a:buNone/>
            </a:pPr>
            <a:r>
              <a:rPr b="0" lang="en-US" sz="1200" spc="-1" strike="noStrike">
                <a:solidFill>
                  <a:srgbClr val="606060"/>
                </a:solidFill>
                <a:latin typeface="Calibri"/>
                <a:ea typeface="DejaVu Sans"/>
              </a:rPr>
              <a:t>    ▸  </a:t>
            </a:r>
            <a:r>
              <a:rPr b="0" lang="en-US" sz="1200" spc="-1" strike="noStrike">
                <a:solidFill>
                  <a:srgbClr val="606060"/>
                </a:solidFill>
                <a:latin typeface="Calibri"/>
                <a:ea typeface="DejaVu Sans"/>
              </a:rPr>
              <a:t>Pros: Simple, low API cost per call</a:t>
            </a:r>
            <a:endParaRPr b="0" lang="en-US" sz="1200" spc="-1" strike="noStrike">
              <a:latin typeface="Arial"/>
            </a:endParaRPr>
          </a:p>
          <a:p>
            <a:pPr>
              <a:lnSpc>
                <a:spcPts val="2100"/>
              </a:lnSpc>
              <a:spcAft>
                <a:spcPts val="400"/>
              </a:spcAft>
              <a:buNone/>
            </a:pPr>
            <a:r>
              <a:rPr b="0" lang="en-US" sz="1200" spc="-1" strike="noStrike">
                <a:solidFill>
                  <a:srgbClr val="606060"/>
                </a:solidFill>
                <a:latin typeface="Calibri"/>
                <a:ea typeface="DejaVu Sans"/>
              </a:rPr>
              <a:t>    ▸  </a:t>
            </a:r>
            <a:r>
              <a:rPr b="0" lang="en-US" sz="1200" spc="-1" strike="noStrike">
                <a:solidFill>
                  <a:srgbClr val="606060"/>
                </a:solidFill>
                <a:latin typeface="Calibri"/>
                <a:ea typeface="DejaVu Sans"/>
              </a:rPr>
              <a:t>Cons: Passive — Gemini cannot query robot state</a:t>
            </a:r>
            <a:endParaRPr b="0" lang="en-US" sz="1200" spc="-1" strike="noStrike">
              <a:latin typeface="Arial"/>
            </a:endParaRPr>
          </a:p>
          <a:p>
            <a:pPr>
              <a:lnSpc>
                <a:spcPts val="2100"/>
              </a:lnSpc>
              <a:spcAft>
                <a:spcPts val="400"/>
              </a:spcAft>
              <a:buNone/>
            </a:pPr>
            <a:r>
              <a:rPr b="0" lang="en-US" sz="1200" spc="-1" strike="noStrike">
                <a:solidFill>
                  <a:srgbClr val="606060"/>
                </a:solidFill>
                <a:latin typeface="Calibri"/>
                <a:ea typeface="DejaVu Sans"/>
              </a:rPr>
              <a:t>    ▸  </a:t>
            </a:r>
            <a:r>
              <a:rPr b="0" lang="en-US" sz="1200" spc="-1" strike="noStrike">
                <a:solidFill>
                  <a:srgbClr val="606060"/>
                </a:solidFill>
                <a:latin typeface="Calibri"/>
                <a:ea typeface="DejaVu Sans"/>
              </a:rPr>
              <a:t>Cons: Sensitive to perception layer data quality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53" name="Rectangle 8"/>
          <p:cNvSpPr/>
          <p:nvPr/>
        </p:nvSpPr>
        <p:spPr>
          <a:xfrm>
            <a:off x="6400800" y="1371600"/>
            <a:ext cx="5302440" cy="4845240"/>
          </a:xfrm>
          <a:prstGeom prst="rect">
            <a:avLst/>
          </a:prstGeom>
          <a:solidFill>
            <a:srgbClr val="e8f5e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4" name="TextBox 9"/>
          <p:cNvSpPr/>
          <p:nvPr/>
        </p:nvSpPr>
        <p:spPr>
          <a:xfrm>
            <a:off x="6583680" y="1463040"/>
            <a:ext cx="493668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ts val="2200"/>
              </a:lnSpc>
              <a:spcAft>
                <a:spcPts val="201"/>
              </a:spcAft>
              <a:buNone/>
            </a:pPr>
            <a:r>
              <a:rPr b="1" lang="en-US" sz="1900" spc="-1" strike="noStrike">
                <a:solidFill>
                  <a:srgbClr val="2d9c6f"/>
                </a:solidFill>
                <a:latin typeface="Calibri"/>
                <a:ea typeface="DejaVu Sans"/>
              </a:rPr>
              <a:t>Mode B: Function Calling Agent</a:t>
            </a:r>
            <a:endParaRPr b="0" lang="en-US" sz="1900" spc="-1" strike="noStrike">
              <a:latin typeface="Arial"/>
            </a:endParaRPr>
          </a:p>
        </p:txBody>
      </p:sp>
      <p:sp>
        <p:nvSpPr>
          <p:cNvPr id="155" name="TextBox 10"/>
          <p:cNvSpPr/>
          <p:nvPr/>
        </p:nvSpPr>
        <p:spPr>
          <a:xfrm>
            <a:off x="6583680" y="2103120"/>
            <a:ext cx="4936680" cy="337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ts val="2100"/>
              </a:lnSpc>
              <a:spcAft>
                <a:spcPts val="400"/>
              </a:spcAft>
              <a:buNone/>
            </a:pPr>
            <a:r>
              <a:rPr b="0" lang="en-US" sz="1400" spc="-1" strike="noStrike">
                <a:solidFill>
                  <a:srgbClr val="202020"/>
                </a:solidFill>
                <a:latin typeface="Calibri"/>
                <a:ea typeface="DejaVu Sans"/>
              </a:rPr>
              <a:t>●  </a:t>
            </a:r>
            <a:r>
              <a:rPr b="0" lang="en-US" sz="1400" spc="-1" strike="noStrike">
                <a:solidFill>
                  <a:srgbClr val="202020"/>
                </a:solidFill>
                <a:latin typeface="Calibri"/>
                <a:ea typeface="DejaVu Sans"/>
              </a:rPr>
              <a:t>Gemini operates as an interactive agent</a:t>
            </a:r>
            <a:endParaRPr b="0" lang="en-US" sz="1400" spc="-1" strike="noStrike">
              <a:latin typeface="Arial"/>
            </a:endParaRPr>
          </a:p>
          <a:p>
            <a:pPr>
              <a:lnSpc>
                <a:spcPts val="2100"/>
              </a:lnSpc>
              <a:spcAft>
                <a:spcPts val="400"/>
              </a:spcAft>
              <a:buNone/>
            </a:pPr>
            <a:r>
              <a:rPr b="0" lang="en-US" sz="1400" spc="-1" strike="noStrike">
                <a:solidFill>
                  <a:srgbClr val="202020"/>
                </a:solidFill>
                <a:latin typeface="Calibri"/>
                <a:ea typeface="DejaVu Sans"/>
              </a:rPr>
              <a:t>●  </a:t>
            </a:r>
            <a:r>
              <a:rPr b="0" lang="en-US" sz="1400" spc="-1" strike="noStrike">
                <a:solidFill>
                  <a:srgbClr val="202020"/>
                </a:solidFill>
                <a:latin typeface="Calibri"/>
                <a:ea typeface="DejaVu Sans"/>
              </a:rPr>
              <a:t>Actively calls tools: get_robot_pose(), get_front_image(), publish_path()</a:t>
            </a:r>
            <a:endParaRPr b="0" lang="en-US" sz="1400" spc="-1" strike="noStrike">
              <a:latin typeface="Arial"/>
            </a:endParaRPr>
          </a:p>
          <a:p>
            <a:pPr>
              <a:lnSpc>
                <a:spcPts val="2100"/>
              </a:lnSpc>
              <a:spcAft>
                <a:spcPts val="400"/>
              </a:spcAft>
              <a:buNone/>
            </a:pPr>
            <a:r>
              <a:rPr b="0" lang="en-US" sz="1400" spc="-1" strike="noStrike">
                <a:solidFill>
                  <a:srgbClr val="202020"/>
                </a:solidFill>
                <a:latin typeface="Calibri"/>
                <a:ea typeface="DejaVu Sans"/>
              </a:rPr>
              <a:t>●  </a:t>
            </a:r>
            <a:r>
              <a:rPr b="0" lang="en-US" sz="1400" spc="-1" strike="noStrike">
                <a:solidFill>
                  <a:srgbClr val="202020"/>
                </a:solidFill>
                <a:latin typeface="Calibri"/>
                <a:ea typeface="DejaVu Sans"/>
              </a:rPr>
              <a:t>Computes odom waypoints via trigonometry — no depth reprojection needed</a:t>
            </a:r>
            <a:endParaRPr b="0" lang="en-US" sz="1400" spc="-1" strike="noStrike">
              <a:latin typeface="Arial"/>
            </a:endParaRPr>
          </a:p>
          <a:p>
            <a:pPr>
              <a:lnSpc>
                <a:spcPts val="2100"/>
              </a:lnSpc>
              <a:spcAft>
                <a:spcPts val="400"/>
              </a:spcAft>
              <a:buNone/>
            </a:pPr>
            <a:r>
              <a:rPr b="0" lang="en-US" sz="1400" spc="-1" strike="noStrike">
                <a:solidFill>
                  <a:srgbClr val="202020"/>
                </a:solidFill>
                <a:latin typeface="Calibri"/>
                <a:ea typeface="DejaVu Sans"/>
              </a:rPr>
              <a:t>●  </a:t>
            </a:r>
            <a:r>
              <a:rPr b="0" lang="en-US" sz="1400" spc="-1" strike="noStrike">
                <a:solidFill>
                  <a:srgbClr val="202020"/>
                </a:solidFill>
                <a:latin typeface="Calibri"/>
                <a:ea typeface="DejaVu Sans"/>
              </a:rPr>
              <a:t>Multi-turn loop until task complete or max turns reached</a:t>
            </a:r>
            <a:endParaRPr b="0" lang="en-US" sz="1400" spc="-1" strike="noStrike">
              <a:latin typeface="Arial"/>
            </a:endParaRPr>
          </a:p>
          <a:p>
            <a:pPr>
              <a:lnSpc>
                <a:spcPts val="2100"/>
              </a:lnSpc>
              <a:spcAft>
                <a:spcPts val="400"/>
              </a:spcAft>
              <a:buNone/>
            </a:pPr>
            <a:r>
              <a:rPr b="0" lang="en-US" sz="1200" spc="-1" strike="noStrike">
                <a:solidFill>
                  <a:srgbClr val="606060"/>
                </a:solidFill>
                <a:latin typeface="Calibri"/>
                <a:ea typeface="DejaVu Sans"/>
              </a:rPr>
              <a:t>    ▸  </a:t>
            </a:r>
            <a:r>
              <a:rPr b="0" lang="en-US" sz="1200" spc="-1" strike="noStrike">
                <a:solidFill>
                  <a:srgbClr val="606060"/>
                </a:solidFill>
                <a:latin typeface="Calibri"/>
                <a:ea typeface="DejaVu Sans"/>
              </a:rPr>
              <a:t>Pros: Spatially grounded — knows exact pose</a:t>
            </a:r>
            <a:endParaRPr b="0" lang="en-US" sz="1200" spc="-1" strike="noStrike">
              <a:latin typeface="Arial"/>
            </a:endParaRPr>
          </a:p>
          <a:p>
            <a:pPr>
              <a:lnSpc>
                <a:spcPts val="2100"/>
              </a:lnSpc>
              <a:spcAft>
                <a:spcPts val="400"/>
              </a:spcAft>
              <a:buNone/>
            </a:pPr>
            <a:r>
              <a:rPr b="0" lang="en-US" sz="1200" spc="-1" strike="noStrike">
                <a:solidFill>
                  <a:srgbClr val="606060"/>
                </a:solidFill>
                <a:latin typeface="Calibri"/>
                <a:ea typeface="DejaVu Sans"/>
              </a:rPr>
              <a:t>    ▸  </a:t>
            </a:r>
            <a:r>
              <a:rPr b="0" lang="en-US" sz="1200" spc="-1" strike="noStrike">
                <a:solidFill>
                  <a:srgbClr val="606060"/>
                </a:solidFill>
                <a:latin typeface="Calibri"/>
                <a:ea typeface="DejaVu Sans"/>
              </a:rPr>
              <a:t>Pros: Generates semantic labels during navigation</a:t>
            </a:r>
            <a:endParaRPr b="0" lang="en-US" sz="1200" spc="-1" strike="noStrike">
              <a:latin typeface="Arial"/>
            </a:endParaRPr>
          </a:p>
          <a:p>
            <a:pPr>
              <a:lnSpc>
                <a:spcPts val="2100"/>
              </a:lnSpc>
              <a:spcAft>
                <a:spcPts val="400"/>
              </a:spcAft>
              <a:buNone/>
            </a:pPr>
            <a:r>
              <a:rPr b="0" lang="en-US" sz="1200" spc="-1" strike="noStrike">
                <a:solidFill>
                  <a:srgbClr val="606060"/>
                </a:solidFill>
                <a:latin typeface="Calibri"/>
                <a:ea typeface="DejaVu Sans"/>
              </a:rPr>
              <a:t>    ▸  </a:t>
            </a:r>
            <a:r>
              <a:rPr b="0" lang="en-US" sz="1200" spc="-1" strike="noStrike">
                <a:solidFill>
                  <a:srgbClr val="606060"/>
                </a:solidFill>
                <a:latin typeface="Calibri"/>
                <a:ea typeface="DejaVu Sans"/>
              </a:rPr>
              <a:t>Pros: Improve the quality of the path</a:t>
            </a:r>
            <a:endParaRPr b="0" lang="en-US" sz="1200" spc="-1" strike="noStrike">
              <a:latin typeface="Arial"/>
            </a:endParaRPr>
          </a:p>
          <a:p>
            <a:pPr>
              <a:lnSpc>
                <a:spcPts val="2100"/>
              </a:lnSpc>
              <a:spcAft>
                <a:spcPts val="400"/>
              </a:spcAft>
              <a:buNone/>
            </a:pPr>
            <a:r>
              <a:rPr b="0" lang="en-US" sz="1200" spc="-1" strike="noStrike">
                <a:solidFill>
                  <a:srgbClr val="606060"/>
                </a:solidFill>
                <a:latin typeface="Calibri"/>
                <a:ea typeface="DejaVu Sans"/>
              </a:rPr>
              <a:t>    ▸  </a:t>
            </a:r>
            <a:r>
              <a:rPr b="0" lang="en-US" sz="1200" spc="-1" strike="noStrike">
                <a:solidFill>
                  <a:srgbClr val="606060"/>
                </a:solidFill>
                <a:latin typeface="Calibri"/>
                <a:ea typeface="DejaVu Sans"/>
              </a:rPr>
              <a:t>Cons: Higher API token consumption (~3-5× per cycle)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56" name="TextBox 11"/>
          <p:cNvSpPr/>
          <p:nvPr/>
        </p:nvSpPr>
        <p:spPr>
          <a:xfrm>
            <a:off x="10789920" y="6400800"/>
            <a:ext cx="109620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ts val="1301"/>
              </a:lnSpc>
              <a:spcAft>
                <a:spcPts val="201"/>
              </a:spcAft>
              <a:buNone/>
            </a:pPr>
            <a:r>
              <a:rPr b="0" lang="en-US" sz="1100" spc="-1" strike="noStrike">
                <a:solidFill>
                  <a:srgbClr val="606060"/>
                </a:solidFill>
                <a:latin typeface="Calibri"/>
                <a:ea typeface="DejaVu Sans"/>
              </a:rPr>
              <a:t>7/10</a:t>
            </a:r>
            <a:endParaRPr b="0" lang="en-US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Rectangle 1"/>
          <p:cNvSpPr/>
          <p:nvPr/>
        </p:nvSpPr>
        <p:spPr>
          <a:xfrm>
            <a:off x="0" y="0"/>
            <a:ext cx="12190680" cy="1004760"/>
          </a:xfrm>
          <a:prstGeom prst="rect">
            <a:avLst/>
          </a:prstGeom>
          <a:solidFill>
            <a:srgbClr val="1b3a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8" name="TextBox 2"/>
          <p:cNvSpPr/>
          <p:nvPr/>
        </p:nvSpPr>
        <p:spPr>
          <a:xfrm>
            <a:off x="548640" y="182880"/>
            <a:ext cx="9142920" cy="50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ts val="3300"/>
              </a:lnSpc>
              <a:spcAft>
                <a:spcPts val="201"/>
              </a:spcAft>
              <a:buNone/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  <a:ea typeface="DejaVu Sans"/>
              </a:rPr>
              <a:t>Key Technical Contributions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59" name="Rectangle 3"/>
          <p:cNvSpPr/>
          <p:nvPr/>
        </p:nvSpPr>
        <p:spPr>
          <a:xfrm>
            <a:off x="0" y="1005840"/>
            <a:ext cx="12190680" cy="35640"/>
          </a:xfrm>
          <a:prstGeom prst="rect">
            <a:avLst/>
          </a:prstGeom>
          <a:solidFill>
            <a:srgbClr val="e87c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60" name="Rectangle 4"/>
          <p:cNvSpPr/>
          <p:nvPr/>
        </p:nvSpPr>
        <p:spPr>
          <a:xfrm>
            <a:off x="548640" y="1371600"/>
            <a:ext cx="90360" cy="1004760"/>
          </a:xfrm>
          <a:prstGeom prst="rect">
            <a:avLst/>
          </a:prstGeom>
          <a:solidFill>
            <a:srgbClr val="2e6b9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61" name="TextBox 5"/>
          <p:cNvSpPr/>
          <p:nvPr/>
        </p:nvSpPr>
        <p:spPr>
          <a:xfrm>
            <a:off x="914400" y="1371600"/>
            <a:ext cx="10514520" cy="34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ts val="2001"/>
              </a:lnSpc>
              <a:spcAft>
                <a:spcPts val="201"/>
              </a:spcAft>
              <a:buNone/>
            </a:pPr>
            <a:r>
              <a:rPr b="1" lang="en-US" sz="1700" spc="-1" strike="noStrike">
                <a:solidFill>
                  <a:srgbClr val="1b3a5c"/>
                </a:solidFill>
                <a:latin typeface="Calibri"/>
                <a:ea typeface="DejaVu Sans"/>
              </a:rPr>
              <a:t>Skill-Based YAML Framework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162" name="TextBox 6"/>
          <p:cNvSpPr/>
          <p:nvPr/>
        </p:nvSpPr>
        <p:spPr>
          <a:xfrm>
            <a:off x="914400" y="1737360"/>
            <a:ext cx="10514520" cy="4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ts val="1500"/>
              </a:lnSpc>
              <a:spcAft>
                <a:spcPts val="201"/>
              </a:spcAft>
              <a:buNone/>
            </a:pPr>
            <a:r>
              <a:rPr b="0" lang="en-US" sz="1300" spc="-1" strike="noStrike">
                <a:solidFill>
                  <a:srgbClr val="606060"/>
                </a:solidFill>
                <a:latin typeface="Calibri"/>
                <a:ea typeface="DejaVu Sans"/>
              </a:rPr>
              <a:t>System prompts defined in hot-swappable YAML files. Adding new robot behaviors (exploration, inspection, navigation) requires zero code changes — just a new YAML file.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63" name="Rectangle 7"/>
          <p:cNvSpPr/>
          <p:nvPr/>
        </p:nvSpPr>
        <p:spPr>
          <a:xfrm>
            <a:off x="548640" y="2606040"/>
            <a:ext cx="90360" cy="1004760"/>
          </a:xfrm>
          <a:prstGeom prst="rect">
            <a:avLst/>
          </a:prstGeom>
          <a:solidFill>
            <a:srgbClr val="2e6b9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64" name="TextBox 8"/>
          <p:cNvSpPr/>
          <p:nvPr/>
        </p:nvSpPr>
        <p:spPr>
          <a:xfrm>
            <a:off x="914400" y="2606040"/>
            <a:ext cx="10514520" cy="34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ts val="2001"/>
              </a:lnSpc>
              <a:spcAft>
                <a:spcPts val="201"/>
              </a:spcAft>
              <a:buNone/>
            </a:pPr>
            <a:r>
              <a:rPr b="1" lang="en-US" sz="1700" spc="-1" strike="noStrike">
                <a:solidFill>
                  <a:srgbClr val="1b3a5c"/>
                </a:solidFill>
                <a:latin typeface="Calibri"/>
                <a:ea typeface="DejaVu Sans"/>
              </a:rPr>
              <a:t>Prompt Engineering for Perspective Compensation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165" name="TextBox 9"/>
          <p:cNvSpPr/>
          <p:nvPr/>
        </p:nvSpPr>
        <p:spPr>
          <a:xfrm>
            <a:off x="914400" y="2971800"/>
            <a:ext cx="10514520" cy="4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ts val="1500"/>
              </a:lnSpc>
              <a:spcAft>
                <a:spcPts val="201"/>
              </a:spcAft>
              <a:buNone/>
            </a:pPr>
            <a:r>
              <a:rPr b="0" lang="en-US" sz="1300" spc="-1" strike="noStrike">
                <a:solidFill>
                  <a:srgbClr val="606060"/>
                </a:solidFill>
                <a:latin typeface="Calibri"/>
                <a:ea typeface="DejaVu Sans"/>
              </a:rPr>
              <a:t>Camera mounted at only 155mm height causes severe perspective compression. Engineered prompts instruct Gemini to place far way points at suitable region, achieving 3-4m per step (vs. &lt;0.5m with naive prompt).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66" name="Rectangle 10"/>
          <p:cNvSpPr/>
          <p:nvPr/>
        </p:nvSpPr>
        <p:spPr>
          <a:xfrm>
            <a:off x="548640" y="3840480"/>
            <a:ext cx="90360" cy="1004760"/>
          </a:xfrm>
          <a:prstGeom prst="rect">
            <a:avLst/>
          </a:prstGeom>
          <a:solidFill>
            <a:srgbClr val="2e6b9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67" name="TextBox 11"/>
          <p:cNvSpPr/>
          <p:nvPr/>
        </p:nvSpPr>
        <p:spPr>
          <a:xfrm>
            <a:off x="914400" y="3840480"/>
            <a:ext cx="10514520" cy="34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ts val="2001"/>
              </a:lnSpc>
              <a:spcAft>
                <a:spcPts val="201"/>
              </a:spcAft>
              <a:buNone/>
            </a:pPr>
            <a:r>
              <a:rPr b="1" lang="en-US" sz="1700" spc="-1" strike="noStrike">
                <a:solidFill>
                  <a:srgbClr val="1b3a5c"/>
                </a:solidFill>
                <a:latin typeface="Calibri"/>
                <a:ea typeface="DejaVu Sans"/>
              </a:rPr>
              <a:t>Function Calling Agent Architecture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168" name="TextBox 12"/>
          <p:cNvSpPr/>
          <p:nvPr/>
        </p:nvSpPr>
        <p:spPr>
          <a:xfrm>
            <a:off x="914400" y="4206240"/>
            <a:ext cx="10514520" cy="4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ts val="1500"/>
              </a:lnSpc>
              <a:spcAft>
                <a:spcPts val="201"/>
              </a:spcAft>
              <a:buNone/>
            </a:pPr>
            <a:r>
              <a:rPr b="0" lang="en-US" sz="1300" spc="-1" strike="noStrike">
                <a:solidFill>
                  <a:srgbClr val="606060"/>
                </a:solidFill>
                <a:latin typeface="Calibri"/>
                <a:ea typeface="DejaVu Sans"/>
              </a:rPr>
              <a:t>7 atomic tool functions (get_pose, get_image, publish_path, label_region, etc.) enable Gemini to actively query sensors and make spatially grounded decisions. Bypasses depth camera reprojection entirely.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69" name="Rectangle 13"/>
          <p:cNvSpPr/>
          <p:nvPr/>
        </p:nvSpPr>
        <p:spPr>
          <a:xfrm>
            <a:off x="548640" y="5074920"/>
            <a:ext cx="90360" cy="1004760"/>
          </a:xfrm>
          <a:prstGeom prst="rect">
            <a:avLst/>
          </a:prstGeom>
          <a:solidFill>
            <a:srgbClr val="2e6b9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70" name="TextBox 14"/>
          <p:cNvSpPr/>
          <p:nvPr/>
        </p:nvSpPr>
        <p:spPr>
          <a:xfrm>
            <a:off x="914400" y="5074920"/>
            <a:ext cx="10514520" cy="34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ts val="2001"/>
              </a:lnSpc>
              <a:spcAft>
                <a:spcPts val="201"/>
              </a:spcAft>
              <a:buNone/>
            </a:pPr>
            <a:r>
              <a:rPr b="1" lang="en-US" sz="1700" spc="-1" strike="noStrike">
                <a:solidFill>
                  <a:srgbClr val="1b3a5c"/>
                </a:solidFill>
                <a:latin typeface="Calibri"/>
                <a:ea typeface="DejaVu Sans"/>
              </a:rPr>
              <a:t>Real Hardware Deployment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171" name="TextBox 15"/>
          <p:cNvSpPr/>
          <p:nvPr/>
        </p:nvSpPr>
        <p:spPr>
          <a:xfrm>
            <a:off x="914400" y="5440680"/>
            <a:ext cx="10514520" cy="4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ts val="1500"/>
              </a:lnSpc>
              <a:spcAft>
                <a:spcPts val="201"/>
              </a:spcAft>
              <a:buNone/>
            </a:pPr>
            <a:r>
              <a:rPr b="0" lang="en-US" sz="1300" spc="-1" strike="noStrike">
                <a:solidFill>
                  <a:srgbClr val="606060"/>
                </a:solidFill>
                <a:latin typeface="Calibri"/>
                <a:ea typeface="DejaVu Sans"/>
              </a:rPr>
              <a:t>Complete system validated on physical robot: Jetson Orin Nano + Orbbec depth camera + Mecanum chassis. Iterative debugging of depth camera issues, TF2 transforms, PID tuning, and QoS compatibility.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72" name="TextBox 16"/>
          <p:cNvSpPr/>
          <p:nvPr/>
        </p:nvSpPr>
        <p:spPr>
          <a:xfrm>
            <a:off x="10789920" y="6400800"/>
            <a:ext cx="109620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ts val="1301"/>
              </a:lnSpc>
              <a:spcAft>
                <a:spcPts val="201"/>
              </a:spcAft>
              <a:buNone/>
            </a:pPr>
            <a:r>
              <a:rPr b="0" lang="en-US" sz="1100" spc="-1" strike="noStrike">
                <a:solidFill>
                  <a:srgbClr val="606060"/>
                </a:solidFill>
                <a:latin typeface="Calibri"/>
                <a:ea typeface="DejaVu Sans"/>
              </a:rPr>
              <a:t>8/10</a:t>
            </a:r>
            <a:endParaRPr b="0" lang="en-US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Rectangle 1"/>
          <p:cNvSpPr/>
          <p:nvPr/>
        </p:nvSpPr>
        <p:spPr>
          <a:xfrm>
            <a:off x="0" y="0"/>
            <a:ext cx="12190680" cy="1004760"/>
          </a:xfrm>
          <a:prstGeom prst="rect">
            <a:avLst/>
          </a:prstGeom>
          <a:solidFill>
            <a:srgbClr val="1b3a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74" name="TextBox 2"/>
          <p:cNvSpPr/>
          <p:nvPr/>
        </p:nvSpPr>
        <p:spPr>
          <a:xfrm>
            <a:off x="548640" y="182880"/>
            <a:ext cx="9142920" cy="50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ts val="3300"/>
              </a:lnSpc>
              <a:spcAft>
                <a:spcPts val="201"/>
              </a:spcAft>
              <a:buNone/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  <a:ea typeface="DejaVu Sans"/>
              </a:rPr>
              <a:t>Experimental Validation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75" name="TextBox 3"/>
          <p:cNvSpPr/>
          <p:nvPr/>
        </p:nvSpPr>
        <p:spPr>
          <a:xfrm>
            <a:off x="548640" y="640080"/>
            <a:ext cx="9142920" cy="29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ts val="1599"/>
              </a:lnSpc>
              <a:spcAft>
                <a:spcPts val="201"/>
              </a:spcAft>
              <a:buNone/>
            </a:pPr>
            <a:r>
              <a:rPr b="0" lang="en-US" sz="1400" spc="-1" strike="noStrike">
                <a:solidFill>
                  <a:srgbClr val="a0c8e8"/>
                </a:solidFill>
                <a:latin typeface="Calibri"/>
                <a:ea typeface="DejaVu Sans"/>
              </a:rPr>
              <a:t>3-Group Comparative Study: Naive Prompt vs. Optimized Prompt vs. Agent Mode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76" name="Rectangle 4"/>
          <p:cNvSpPr/>
          <p:nvPr/>
        </p:nvSpPr>
        <p:spPr>
          <a:xfrm>
            <a:off x="0" y="1005840"/>
            <a:ext cx="12190680" cy="35640"/>
          </a:xfrm>
          <a:prstGeom prst="rect">
            <a:avLst/>
          </a:prstGeom>
          <a:solidFill>
            <a:srgbClr val="e87c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77" name="TextBox 5"/>
          <p:cNvSpPr/>
          <p:nvPr/>
        </p:nvSpPr>
        <p:spPr>
          <a:xfrm>
            <a:off x="731520" y="1371600"/>
            <a:ext cx="502812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ts val="2100"/>
              </a:lnSpc>
              <a:spcAft>
                <a:spcPts val="201"/>
              </a:spcAft>
              <a:buNone/>
            </a:pPr>
            <a:r>
              <a:rPr b="1" lang="en-US" sz="1800" spc="-1" strike="noStrike">
                <a:solidFill>
                  <a:srgbClr val="1b3a5c"/>
                </a:solidFill>
                <a:latin typeface="Calibri"/>
                <a:ea typeface="DejaVu Sans"/>
              </a:rPr>
              <a:t>Experiment Setup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78" name="TextBox 6"/>
          <p:cNvSpPr/>
          <p:nvPr/>
        </p:nvSpPr>
        <p:spPr>
          <a:xfrm>
            <a:off x="731520" y="1828800"/>
            <a:ext cx="5028120" cy="189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ts val="2100"/>
              </a:lnSpc>
              <a:spcAft>
                <a:spcPts val="400"/>
              </a:spcAft>
              <a:buNone/>
            </a:pPr>
            <a:r>
              <a:rPr b="0" lang="en-US" sz="1400" spc="-1" strike="noStrike">
                <a:solidFill>
                  <a:srgbClr val="202020"/>
                </a:solidFill>
                <a:latin typeface="Calibri"/>
                <a:ea typeface="DejaVu Sans"/>
              </a:rPr>
              <a:t>●  </a:t>
            </a:r>
            <a:r>
              <a:rPr b="0" lang="en-US" sz="1400" spc="-1" strike="noStrike">
                <a:solidFill>
                  <a:srgbClr val="202020"/>
                </a:solidFill>
                <a:latin typeface="Calibri"/>
                <a:ea typeface="DejaVu Sans"/>
              </a:rPr>
              <a:t>Scenario: 8m corridor with obstacle, target = exit door</a:t>
            </a:r>
            <a:endParaRPr b="0" lang="en-US" sz="1400" spc="-1" strike="noStrike">
              <a:latin typeface="Arial"/>
            </a:endParaRPr>
          </a:p>
          <a:p>
            <a:pPr>
              <a:lnSpc>
                <a:spcPts val="2100"/>
              </a:lnSpc>
              <a:spcAft>
                <a:spcPts val="400"/>
              </a:spcAft>
              <a:buNone/>
            </a:pPr>
            <a:r>
              <a:rPr b="0" lang="en-US" sz="1400" spc="-1" strike="noStrike">
                <a:solidFill>
                  <a:srgbClr val="202020"/>
                </a:solidFill>
                <a:latin typeface="Calibri"/>
                <a:ea typeface="DejaVu Sans"/>
              </a:rPr>
              <a:t>●  </a:t>
            </a:r>
            <a:r>
              <a:rPr b="0" lang="en-US" sz="1400" spc="-1" strike="noStrike">
                <a:solidFill>
                  <a:srgbClr val="202020"/>
                </a:solidFill>
                <a:latin typeface="Calibri"/>
                <a:ea typeface="DejaVu Sans"/>
              </a:rPr>
              <a:t>5 trials per group, same starting pose</a:t>
            </a:r>
            <a:endParaRPr b="0" lang="en-US" sz="1400" spc="-1" strike="noStrike">
              <a:latin typeface="Arial"/>
            </a:endParaRPr>
          </a:p>
          <a:p>
            <a:pPr>
              <a:lnSpc>
                <a:spcPts val="2100"/>
              </a:lnSpc>
              <a:spcAft>
                <a:spcPts val="400"/>
              </a:spcAft>
              <a:buNone/>
            </a:pPr>
            <a:r>
              <a:rPr b="0" lang="en-US" sz="1400" spc="-1" strike="noStrike">
                <a:solidFill>
                  <a:srgbClr val="202020"/>
                </a:solidFill>
                <a:latin typeface="Calibri"/>
                <a:ea typeface="DejaVu Sans"/>
              </a:rPr>
              <a:t>●  </a:t>
            </a:r>
            <a:r>
              <a:rPr b="0" lang="en-US" sz="1400" spc="-1" strike="noStrike">
                <a:solidFill>
                  <a:srgbClr val="202020"/>
                </a:solidFill>
                <a:latin typeface="Calibri"/>
                <a:ea typeface="DejaVu Sans"/>
              </a:rPr>
              <a:t>Group A: Naive prompt (single-turn)</a:t>
            </a:r>
            <a:endParaRPr b="0" lang="en-US" sz="1400" spc="-1" strike="noStrike">
              <a:latin typeface="Arial"/>
            </a:endParaRPr>
          </a:p>
          <a:p>
            <a:pPr>
              <a:lnSpc>
                <a:spcPts val="2100"/>
              </a:lnSpc>
              <a:spcAft>
                <a:spcPts val="400"/>
              </a:spcAft>
              <a:buNone/>
            </a:pPr>
            <a:r>
              <a:rPr b="0" lang="en-US" sz="1400" spc="-1" strike="noStrike">
                <a:solidFill>
                  <a:srgbClr val="202020"/>
                </a:solidFill>
                <a:latin typeface="Calibri"/>
                <a:ea typeface="DejaVu Sans"/>
              </a:rPr>
              <a:t>●  </a:t>
            </a:r>
            <a:r>
              <a:rPr b="0" lang="en-US" sz="1400" spc="-1" strike="noStrike">
                <a:solidFill>
                  <a:srgbClr val="202020"/>
                </a:solidFill>
                <a:latin typeface="Calibri"/>
                <a:ea typeface="DejaVu Sans"/>
              </a:rPr>
              <a:t>Group B: Optimized prompt (single-turn)</a:t>
            </a:r>
            <a:endParaRPr b="0" lang="en-US" sz="1400" spc="-1" strike="noStrike">
              <a:latin typeface="Arial"/>
            </a:endParaRPr>
          </a:p>
          <a:p>
            <a:pPr>
              <a:lnSpc>
                <a:spcPts val="2100"/>
              </a:lnSpc>
              <a:spcAft>
                <a:spcPts val="400"/>
              </a:spcAft>
              <a:buNone/>
            </a:pPr>
            <a:r>
              <a:rPr b="0" lang="en-US" sz="1400" spc="-1" strike="noStrike">
                <a:solidFill>
                  <a:srgbClr val="202020"/>
                </a:solidFill>
                <a:latin typeface="Calibri"/>
                <a:ea typeface="DejaVu Sans"/>
              </a:rPr>
              <a:t>●  </a:t>
            </a:r>
            <a:r>
              <a:rPr b="0" lang="en-US" sz="1400" spc="-1" strike="noStrike">
                <a:solidFill>
                  <a:srgbClr val="202020"/>
                </a:solidFill>
                <a:latin typeface="Calibri"/>
                <a:ea typeface="DejaVu Sans"/>
              </a:rPr>
              <a:t>Group C: Function Calling Agent (multi-turn)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79" name="TextBox 7"/>
          <p:cNvSpPr/>
          <p:nvPr/>
        </p:nvSpPr>
        <p:spPr>
          <a:xfrm>
            <a:off x="731520" y="3720240"/>
            <a:ext cx="585144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ts val="2100"/>
              </a:lnSpc>
              <a:spcAft>
                <a:spcPts val="201"/>
              </a:spcAft>
              <a:buNone/>
            </a:pPr>
            <a:r>
              <a:rPr b="1" lang="en-US" sz="1800" spc="-1" strike="noStrike">
                <a:solidFill>
                  <a:srgbClr val="1b3a5c"/>
                </a:solidFill>
                <a:latin typeface="Calibri"/>
                <a:ea typeface="DejaVu Sans"/>
              </a:rPr>
              <a:t>Key Metrics (to be filled after experiments)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80" name="Rectangle 8"/>
          <p:cNvSpPr/>
          <p:nvPr/>
        </p:nvSpPr>
        <p:spPr>
          <a:xfrm>
            <a:off x="694800" y="4195440"/>
            <a:ext cx="1416240" cy="318960"/>
          </a:xfrm>
          <a:prstGeom prst="rect">
            <a:avLst/>
          </a:prstGeom>
          <a:solidFill>
            <a:srgbClr val="1b3a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81" name="TextBox 9"/>
          <p:cNvSpPr/>
          <p:nvPr/>
        </p:nvSpPr>
        <p:spPr>
          <a:xfrm>
            <a:off x="740520" y="4213800"/>
            <a:ext cx="1324800" cy="26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ts val="1400"/>
              </a:lnSpc>
              <a:spcAft>
                <a:spcPts val="201"/>
              </a:spcAft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DejaVu Sans"/>
              </a:rPr>
              <a:t>Metric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82" name="Rectangle 10"/>
          <p:cNvSpPr/>
          <p:nvPr/>
        </p:nvSpPr>
        <p:spPr>
          <a:xfrm>
            <a:off x="2157840" y="4195440"/>
            <a:ext cx="1416240" cy="318960"/>
          </a:xfrm>
          <a:prstGeom prst="rect">
            <a:avLst/>
          </a:prstGeom>
          <a:solidFill>
            <a:srgbClr val="1b3a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83" name="TextBox 11"/>
          <p:cNvSpPr/>
          <p:nvPr/>
        </p:nvSpPr>
        <p:spPr>
          <a:xfrm>
            <a:off x="2203560" y="4213800"/>
            <a:ext cx="1324800" cy="26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ts val="1400"/>
              </a:lnSpc>
              <a:spcAft>
                <a:spcPts val="201"/>
              </a:spcAft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DejaVu Sans"/>
              </a:rPr>
              <a:t>Group A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84" name="Rectangle 12"/>
          <p:cNvSpPr/>
          <p:nvPr/>
        </p:nvSpPr>
        <p:spPr>
          <a:xfrm>
            <a:off x="3620880" y="4195440"/>
            <a:ext cx="1416240" cy="318960"/>
          </a:xfrm>
          <a:prstGeom prst="rect">
            <a:avLst/>
          </a:prstGeom>
          <a:solidFill>
            <a:srgbClr val="1b3a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85" name="TextBox 13"/>
          <p:cNvSpPr/>
          <p:nvPr/>
        </p:nvSpPr>
        <p:spPr>
          <a:xfrm>
            <a:off x="3666600" y="4213800"/>
            <a:ext cx="1324800" cy="26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ts val="1400"/>
              </a:lnSpc>
              <a:spcAft>
                <a:spcPts val="201"/>
              </a:spcAft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DejaVu Sans"/>
              </a:rPr>
              <a:t>Group B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86" name="Rectangle 14"/>
          <p:cNvSpPr/>
          <p:nvPr/>
        </p:nvSpPr>
        <p:spPr>
          <a:xfrm>
            <a:off x="5083920" y="4195440"/>
            <a:ext cx="1416240" cy="318960"/>
          </a:xfrm>
          <a:prstGeom prst="rect">
            <a:avLst/>
          </a:prstGeom>
          <a:solidFill>
            <a:srgbClr val="1b3a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87" name="TextBox 15"/>
          <p:cNvSpPr/>
          <p:nvPr/>
        </p:nvSpPr>
        <p:spPr>
          <a:xfrm>
            <a:off x="5129640" y="4213800"/>
            <a:ext cx="1324800" cy="26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ts val="1400"/>
              </a:lnSpc>
              <a:spcAft>
                <a:spcPts val="201"/>
              </a:spcAft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DejaVu Sans"/>
              </a:rPr>
              <a:t>Group C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88" name="Rectangle 16"/>
          <p:cNvSpPr/>
          <p:nvPr/>
        </p:nvSpPr>
        <p:spPr>
          <a:xfrm>
            <a:off x="694800" y="4515480"/>
            <a:ext cx="1416240" cy="3189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89" name="TextBox 17"/>
          <p:cNvSpPr/>
          <p:nvPr/>
        </p:nvSpPr>
        <p:spPr>
          <a:xfrm>
            <a:off x="740520" y="4533840"/>
            <a:ext cx="1324800" cy="26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ts val="1400"/>
              </a:lnSpc>
              <a:spcAft>
                <a:spcPts val="201"/>
              </a:spcAft>
              <a:buNone/>
            </a:pPr>
            <a:r>
              <a:rPr b="0" lang="en-US" sz="1200" spc="-1" strike="noStrike">
                <a:solidFill>
                  <a:srgbClr val="202020"/>
                </a:solidFill>
                <a:latin typeface="Calibri"/>
                <a:ea typeface="DejaVu Sans"/>
              </a:rPr>
              <a:t>Success Rate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90" name="Rectangle 18"/>
          <p:cNvSpPr/>
          <p:nvPr/>
        </p:nvSpPr>
        <p:spPr>
          <a:xfrm>
            <a:off x="2157840" y="4515480"/>
            <a:ext cx="1416240" cy="3189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91" name="TextBox 19"/>
          <p:cNvSpPr/>
          <p:nvPr/>
        </p:nvSpPr>
        <p:spPr>
          <a:xfrm>
            <a:off x="2203560" y="4533840"/>
            <a:ext cx="1324800" cy="26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ts val="1400"/>
              </a:lnSpc>
              <a:spcAft>
                <a:spcPts val="201"/>
              </a:spcAft>
              <a:buNone/>
            </a:pPr>
            <a:r>
              <a:rPr b="0" lang="en-US" sz="1200" spc="-1" strike="noStrike">
                <a:solidFill>
                  <a:srgbClr val="202020"/>
                </a:solidFill>
                <a:latin typeface="Calibri"/>
                <a:ea typeface="DejaVu Sans"/>
              </a:rPr>
              <a:t>[___]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92" name="Rectangle 20"/>
          <p:cNvSpPr/>
          <p:nvPr/>
        </p:nvSpPr>
        <p:spPr>
          <a:xfrm>
            <a:off x="3620880" y="4515480"/>
            <a:ext cx="1416240" cy="3189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93" name="TextBox 21"/>
          <p:cNvSpPr/>
          <p:nvPr/>
        </p:nvSpPr>
        <p:spPr>
          <a:xfrm>
            <a:off x="3666600" y="4533840"/>
            <a:ext cx="1324800" cy="26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ts val="1400"/>
              </a:lnSpc>
              <a:spcAft>
                <a:spcPts val="201"/>
              </a:spcAft>
              <a:buNone/>
            </a:pPr>
            <a:r>
              <a:rPr b="0" lang="en-US" sz="1200" spc="-1" strike="noStrike">
                <a:solidFill>
                  <a:srgbClr val="202020"/>
                </a:solidFill>
                <a:latin typeface="Calibri"/>
                <a:ea typeface="DejaVu Sans"/>
              </a:rPr>
              <a:t>[___]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94" name="Rectangle 22"/>
          <p:cNvSpPr/>
          <p:nvPr/>
        </p:nvSpPr>
        <p:spPr>
          <a:xfrm>
            <a:off x="5083920" y="4515480"/>
            <a:ext cx="1416240" cy="3189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95" name="TextBox 23"/>
          <p:cNvSpPr/>
          <p:nvPr/>
        </p:nvSpPr>
        <p:spPr>
          <a:xfrm>
            <a:off x="5129640" y="4533840"/>
            <a:ext cx="1324800" cy="26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ts val="1400"/>
              </a:lnSpc>
              <a:spcAft>
                <a:spcPts val="201"/>
              </a:spcAft>
              <a:buNone/>
            </a:pPr>
            <a:r>
              <a:rPr b="0" lang="en-US" sz="1200" spc="-1" strike="noStrike">
                <a:solidFill>
                  <a:srgbClr val="202020"/>
                </a:solidFill>
                <a:latin typeface="Calibri"/>
                <a:ea typeface="DejaVu Sans"/>
              </a:rPr>
              <a:t>[___]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96" name="Rectangle 24"/>
          <p:cNvSpPr/>
          <p:nvPr/>
        </p:nvSpPr>
        <p:spPr>
          <a:xfrm>
            <a:off x="694800" y="4835520"/>
            <a:ext cx="1416240" cy="318960"/>
          </a:xfrm>
          <a:prstGeom prst="rect">
            <a:avLst/>
          </a:prstGeom>
          <a:solidFill>
            <a:srgbClr val="d6e8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97" name="TextBox 25"/>
          <p:cNvSpPr/>
          <p:nvPr/>
        </p:nvSpPr>
        <p:spPr>
          <a:xfrm>
            <a:off x="740520" y="4853880"/>
            <a:ext cx="1324800" cy="26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ts val="1400"/>
              </a:lnSpc>
              <a:spcAft>
                <a:spcPts val="201"/>
              </a:spcAft>
              <a:buNone/>
            </a:pPr>
            <a:r>
              <a:rPr b="0" lang="en-US" sz="1200" spc="-1" strike="noStrike">
                <a:solidFill>
                  <a:srgbClr val="202020"/>
                </a:solidFill>
                <a:latin typeface="Calibri"/>
                <a:ea typeface="DejaVu Sans"/>
              </a:rPr>
              <a:t>Avg. Time (s)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98" name="Rectangle 26"/>
          <p:cNvSpPr/>
          <p:nvPr/>
        </p:nvSpPr>
        <p:spPr>
          <a:xfrm>
            <a:off x="2157840" y="4835520"/>
            <a:ext cx="1416240" cy="318960"/>
          </a:xfrm>
          <a:prstGeom prst="rect">
            <a:avLst/>
          </a:prstGeom>
          <a:solidFill>
            <a:srgbClr val="d6e8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99" name="TextBox 27"/>
          <p:cNvSpPr/>
          <p:nvPr/>
        </p:nvSpPr>
        <p:spPr>
          <a:xfrm>
            <a:off x="2203560" y="4853880"/>
            <a:ext cx="1324800" cy="26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ts val="1400"/>
              </a:lnSpc>
              <a:spcAft>
                <a:spcPts val="201"/>
              </a:spcAft>
              <a:buNone/>
            </a:pPr>
            <a:r>
              <a:rPr b="0" lang="en-US" sz="1200" spc="-1" strike="noStrike">
                <a:solidFill>
                  <a:srgbClr val="202020"/>
                </a:solidFill>
                <a:latin typeface="Calibri"/>
                <a:ea typeface="DejaVu Sans"/>
              </a:rPr>
              <a:t>[___]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00" name="Rectangle 28"/>
          <p:cNvSpPr/>
          <p:nvPr/>
        </p:nvSpPr>
        <p:spPr>
          <a:xfrm>
            <a:off x="3620880" y="4835520"/>
            <a:ext cx="1416240" cy="318960"/>
          </a:xfrm>
          <a:prstGeom prst="rect">
            <a:avLst/>
          </a:prstGeom>
          <a:solidFill>
            <a:srgbClr val="d6e8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01" name="TextBox 29"/>
          <p:cNvSpPr/>
          <p:nvPr/>
        </p:nvSpPr>
        <p:spPr>
          <a:xfrm>
            <a:off x="3666600" y="4853880"/>
            <a:ext cx="1324800" cy="26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ts val="1400"/>
              </a:lnSpc>
              <a:spcAft>
                <a:spcPts val="201"/>
              </a:spcAft>
              <a:buNone/>
            </a:pPr>
            <a:r>
              <a:rPr b="0" lang="en-US" sz="1200" spc="-1" strike="noStrike">
                <a:solidFill>
                  <a:srgbClr val="202020"/>
                </a:solidFill>
                <a:latin typeface="Calibri"/>
                <a:ea typeface="DejaVu Sans"/>
              </a:rPr>
              <a:t>[___]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02" name="Rectangle 30"/>
          <p:cNvSpPr/>
          <p:nvPr/>
        </p:nvSpPr>
        <p:spPr>
          <a:xfrm>
            <a:off x="5083920" y="4835520"/>
            <a:ext cx="1416240" cy="318960"/>
          </a:xfrm>
          <a:prstGeom prst="rect">
            <a:avLst/>
          </a:prstGeom>
          <a:solidFill>
            <a:srgbClr val="d6e8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03" name="TextBox 31"/>
          <p:cNvSpPr/>
          <p:nvPr/>
        </p:nvSpPr>
        <p:spPr>
          <a:xfrm>
            <a:off x="5129640" y="4853880"/>
            <a:ext cx="1324800" cy="26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ts val="1400"/>
              </a:lnSpc>
              <a:spcAft>
                <a:spcPts val="201"/>
              </a:spcAft>
              <a:buNone/>
            </a:pPr>
            <a:r>
              <a:rPr b="0" lang="en-US" sz="1200" spc="-1" strike="noStrike">
                <a:solidFill>
                  <a:srgbClr val="202020"/>
                </a:solidFill>
                <a:latin typeface="Calibri"/>
                <a:ea typeface="DejaVu Sans"/>
              </a:rPr>
              <a:t>[___]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04" name="Rectangle 32"/>
          <p:cNvSpPr/>
          <p:nvPr/>
        </p:nvSpPr>
        <p:spPr>
          <a:xfrm>
            <a:off x="694800" y="5155560"/>
            <a:ext cx="1416240" cy="3189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05" name="TextBox 33"/>
          <p:cNvSpPr/>
          <p:nvPr/>
        </p:nvSpPr>
        <p:spPr>
          <a:xfrm>
            <a:off x="511920" y="5173200"/>
            <a:ext cx="1773360" cy="26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ts val="1400"/>
              </a:lnSpc>
              <a:spcAft>
                <a:spcPts val="201"/>
              </a:spcAft>
              <a:buNone/>
            </a:pPr>
            <a:r>
              <a:rPr b="0" lang="en-US" sz="1200" spc="-1" strike="noStrike">
                <a:solidFill>
                  <a:srgbClr val="202020"/>
                </a:solidFill>
                <a:latin typeface="Calibri"/>
                <a:ea typeface="DejaVu Sans"/>
              </a:rPr>
              <a:t>LLM Interactions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06" name="Rectangle 34"/>
          <p:cNvSpPr/>
          <p:nvPr/>
        </p:nvSpPr>
        <p:spPr>
          <a:xfrm>
            <a:off x="2157840" y="5155560"/>
            <a:ext cx="1416240" cy="3189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07" name="TextBox 35"/>
          <p:cNvSpPr/>
          <p:nvPr/>
        </p:nvSpPr>
        <p:spPr>
          <a:xfrm>
            <a:off x="2203560" y="5173920"/>
            <a:ext cx="1324800" cy="26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ts val="1400"/>
              </a:lnSpc>
              <a:spcAft>
                <a:spcPts val="201"/>
              </a:spcAft>
              <a:buNone/>
            </a:pPr>
            <a:r>
              <a:rPr b="0" lang="en-US" sz="1200" spc="-1" strike="noStrike">
                <a:solidFill>
                  <a:srgbClr val="202020"/>
                </a:solidFill>
                <a:latin typeface="Calibri"/>
                <a:ea typeface="DejaVu Sans"/>
              </a:rPr>
              <a:t>[___]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08" name="Rectangle 36"/>
          <p:cNvSpPr/>
          <p:nvPr/>
        </p:nvSpPr>
        <p:spPr>
          <a:xfrm>
            <a:off x="3620880" y="5155560"/>
            <a:ext cx="1416240" cy="3189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09" name="TextBox 37"/>
          <p:cNvSpPr/>
          <p:nvPr/>
        </p:nvSpPr>
        <p:spPr>
          <a:xfrm>
            <a:off x="3666600" y="5173920"/>
            <a:ext cx="1324800" cy="26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ts val="1400"/>
              </a:lnSpc>
              <a:spcAft>
                <a:spcPts val="201"/>
              </a:spcAft>
              <a:buNone/>
            </a:pPr>
            <a:r>
              <a:rPr b="0" lang="en-US" sz="1200" spc="-1" strike="noStrike">
                <a:solidFill>
                  <a:srgbClr val="202020"/>
                </a:solidFill>
                <a:latin typeface="Calibri"/>
                <a:ea typeface="DejaVu Sans"/>
              </a:rPr>
              <a:t>[___]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10" name="Rectangle 38"/>
          <p:cNvSpPr/>
          <p:nvPr/>
        </p:nvSpPr>
        <p:spPr>
          <a:xfrm>
            <a:off x="5083920" y="5155560"/>
            <a:ext cx="1416240" cy="3189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11" name="TextBox 39"/>
          <p:cNvSpPr/>
          <p:nvPr/>
        </p:nvSpPr>
        <p:spPr>
          <a:xfrm>
            <a:off x="5129640" y="5173920"/>
            <a:ext cx="1324800" cy="26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ts val="1400"/>
              </a:lnSpc>
              <a:spcAft>
                <a:spcPts val="201"/>
              </a:spcAft>
              <a:buNone/>
            </a:pPr>
            <a:r>
              <a:rPr b="0" lang="en-US" sz="1200" spc="-1" strike="noStrike">
                <a:solidFill>
                  <a:srgbClr val="202020"/>
                </a:solidFill>
                <a:latin typeface="Calibri"/>
                <a:ea typeface="DejaVu Sans"/>
              </a:rPr>
              <a:t>[___]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12" name="Rectangle 40"/>
          <p:cNvSpPr/>
          <p:nvPr/>
        </p:nvSpPr>
        <p:spPr>
          <a:xfrm>
            <a:off x="694800" y="5475600"/>
            <a:ext cx="1416240" cy="318960"/>
          </a:xfrm>
          <a:prstGeom prst="rect">
            <a:avLst/>
          </a:prstGeom>
          <a:solidFill>
            <a:srgbClr val="d6e8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13" name="TextBox 41"/>
          <p:cNvSpPr/>
          <p:nvPr/>
        </p:nvSpPr>
        <p:spPr>
          <a:xfrm>
            <a:off x="694800" y="5493960"/>
            <a:ext cx="1462320" cy="26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ts val="1400"/>
              </a:lnSpc>
              <a:spcAft>
                <a:spcPts val="201"/>
              </a:spcAft>
              <a:buNone/>
            </a:pPr>
            <a:r>
              <a:rPr b="0" lang="en-US" sz="1200" spc="-1" strike="noStrike">
                <a:solidFill>
                  <a:srgbClr val="202020"/>
                </a:solidFill>
                <a:latin typeface="Calibri"/>
                <a:ea typeface="DejaVu Sans"/>
              </a:rPr>
              <a:t>Angular Vel. Var.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14" name="Rectangle 42"/>
          <p:cNvSpPr/>
          <p:nvPr/>
        </p:nvSpPr>
        <p:spPr>
          <a:xfrm>
            <a:off x="2157840" y="5475600"/>
            <a:ext cx="1416240" cy="318960"/>
          </a:xfrm>
          <a:prstGeom prst="rect">
            <a:avLst/>
          </a:prstGeom>
          <a:solidFill>
            <a:srgbClr val="d6e8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15" name="TextBox 43"/>
          <p:cNvSpPr/>
          <p:nvPr/>
        </p:nvSpPr>
        <p:spPr>
          <a:xfrm>
            <a:off x="2203560" y="5493960"/>
            <a:ext cx="1324800" cy="26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ts val="1400"/>
              </a:lnSpc>
              <a:spcAft>
                <a:spcPts val="201"/>
              </a:spcAft>
              <a:buNone/>
            </a:pPr>
            <a:r>
              <a:rPr b="0" lang="en-US" sz="1200" spc="-1" strike="noStrike">
                <a:solidFill>
                  <a:srgbClr val="202020"/>
                </a:solidFill>
                <a:latin typeface="Calibri"/>
                <a:ea typeface="DejaVu Sans"/>
              </a:rPr>
              <a:t>[___]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16" name="Rectangle 44"/>
          <p:cNvSpPr/>
          <p:nvPr/>
        </p:nvSpPr>
        <p:spPr>
          <a:xfrm>
            <a:off x="3620880" y="5475600"/>
            <a:ext cx="1416240" cy="318960"/>
          </a:xfrm>
          <a:prstGeom prst="rect">
            <a:avLst/>
          </a:prstGeom>
          <a:solidFill>
            <a:srgbClr val="d6e8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17" name="TextBox 45"/>
          <p:cNvSpPr/>
          <p:nvPr/>
        </p:nvSpPr>
        <p:spPr>
          <a:xfrm>
            <a:off x="3666600" y="5493960"/>
            <a:ext cx="1324800" cy="26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ts val="1400"/>
              </a:lnSpc>
              <a:spcAft>
                <a:spcPts val="201"/>
              </a:spcAft>
              <a:buNone/>
            </a:pPr>
            <a:r>
              <a:rPr b="0" lang="en-US" sz="1200" spc="-1" strike="noStrike">
                <a:solidFill>
                  <a:srgbClr val="202020"/>
                </a:solidFill>
                <a:latin typeface="Calibri"/>
                <a:ea typeface="DejaVu Sans"/>
              </a:rPr>
              <a:t>[___]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18" name="Rectangle 46"/>
          <p:cNvSpPr/>
          <p:nvPr/>
        </p:nvSpPr>
        <p:spPr>
          <a:xfrm>
            <a:off x="5083920" y="5475600"/>
            <a:ext cx="1416240" cy="318960"/>
          </a:xfrm>
          <a:prstGeom prst="rect">
            <a:avLst/>
          </a:prstGeom>
          <a:solidFill>
            <a:srgbClr val="d6e8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19" name="TextBox 47"/>
          <p:cNvSpPr/>
          <p:nvPr/>
        </p:nvSpPr>
        <p:spPr>
          <a:xfrm>
            <a:off x="5129640" y="5493960"/>
            <a:ext cx="1324800" cy="26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ts val="1400"/>
              </a:lnSpc>
              <a:spcAft>
                <a:spcPts val="201"/>
              </a:spcAft>
              <a:buNone/>
            </a:pPr>
            <a:r>
              <a:rPr b="0" lang="en-US" sz="1200" spc="-1" strike="noStrike">
                <a:solidFill>
                  <a:srgbClr val="202020"/>
                </a:solidFill>
                <a:latin typeface="Calibri"/>
                <a:ea typeface="DejaVu Sans"/>
              </a:rPr>
              <a:t>[___]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20" name="Rectangle 48"/>
          <p:cNvSpPr/>
          <p:nvPr/>
        </p:nvSpPr>
        <p:spPr>
          <a:xfrm>
            <a:off x="694800" y="5795640"/>
            <a:ext cx="1416240" cy="3189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21" name="TextBox 49"/>
          <p:cNvSpPr/>
          <p:nvPr/>
        </p:nvSpPr>
        <p:spPr>
          <a:xfrm>
            <a:off x="694800" y="5814000"/>
            <a:ext cx="1462320" cy="26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ts val="1400"/>
              </a:lnSpc>
              <a:spcAft>
                <a:spcPts val="201"/>
              </a:spcAft>
              <a:buNone/>
            </a:pPr>
            <a:r>
              <a:rPr b="0" lang="en-US" sz="1200" spc="-1" strike="noStrike">
                <a:solidFill>
                  <a:srgbClr val="202020"/>
                </a:solidFill>
                <a:latin typeface="Calibri"/>
                <a:ea typeface="DejaVu Sans"/>
              </a:rPr>
              <a:t>Semantic Labels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22" name="Rectangle 50"/>
          <p:cNvSpPr/>
          <p:nvPr/>
        </p:nvSpPr>
        <p:spPr>
          <a:xfrm>
            <a:off x="2157840" y="5795640"/>
            <a:ext cx="1416240" cy="3189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23" name="TextBox 51"/>
          <p:cNvSpPr/>
          <p:nvPr/>
        </p:nvSpPr>
        <p:spPr>
          <a:xfrm>
            <a:off x="2203560" y="5814000"/>
            <a:ext cx="1324800" cy="26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ts val="1400"/>
              </a:lnSpc>
              <a:spcAft>
                <a:spcPts val="201"/>
              </a:spcAft>
              <a:buNone/>
            </a:pPr>
            <a:r>
              <a:rPr b="0" lang="en-US" sz="1200" spc="-1" strike="noStrike">
                <a:solidFill>
                  <a:srgbClr val="202020"/>
                </a:solidFill>
                <a:latin typeface="Calibri"/>
                <a:ea typeface="DejaVu Sans"/>
              </a:rPr>
              <a:t>N/A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24" name="Rectangle 52"/>
          <p:cNvSpPr/>
          <p:nvPr/>
        </p:nvSpPr>
        <p:spPr>
          <a:xfrm>
            <a:off x="3620880" y="5795640"/>
            <a:ext cx="1416240" cy="3189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25" name="TextBox 53"/>
          <p:cNvSpPr/>
          <p:nvPr/>
        </p:nvSpPr>
        <p:spPr>
          <a:xfrm>
            <a:off x="3666600" y="5814000"/>
            <a:ext cx="1324800" cy="26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ts val="1400"/>
              </a:lnSpc>
              <a:spcAft>
                <a:spcPts val="201"/>
              </a:spcAft>
              <a:buNone/>
            </a:pPr>
            <a:r>
              <a:rPr b="0" lang="en-US" sz="1200" spc="-1" strike="noStrike">
                <a:solidFill>
                  <a:srgbClr val="202020"/>
                </a:solidFill>
                <a:latin typeface="Calibri"/>
                <a:ea typeface="DejaVu Sans"/>
              </a:rPr>
              <a:t>N/A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26" name="Rectangle 54"/>
          <p:cNvSpPr/>
          <p:nvPr/>
        </p:nvSpPr>
        <p:spPr>
          <a:xfrm>
            <a:off x="5083920" y="5795640"/>
            <a:ext cx="1416240" cy="3189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27" name="TextBox 55"/>
          <p:cNvSpPr/>
          <p:nvPr/>
        </p:nvSpPr>
        <p:spPr>
          <a:xfrm>
            <a:off x="5129640" y="5814000"/>
            <a:ext cx="1324800" cy="26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ts val="1400"/>
              </a:lnSpc>
              <a:spcAft>
                <a:spcPts val="201"/>
              </a:spcAft>
              <a:buNone/>
            </a:pPr>
            <a:r>
              <a:rPr b="0" lang="en-US" sz="1200" spc="-1" strike="noStrike">
                <a:solidFill>
                  <a:srgbClr val="202020"/>
                </a:solidFill>
                <a:latin typeface="Calibri"/>
                <a:ea typeface="DejaVu Sans"/>
              </a:rPr>
              <a:t>[___]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28" name="TextBox 57"/>
          <p:cNvSpPr/>
          <p:nvPr/>
        </p:nvSpPr>
        <p:spPr>
          <a:xfrm>
            <a:off x="6583680" y="3017520"/>
            <a:ext cx="5028120" cy="29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ts val="1599"/>
              </a:lnSpc>
              <a:spcAft>
                <a:spcPts val="201"/>
              </a:spcAft>
              <a:buNone/>
            </a:pPr>
            <a:r>
              <a:rPr b="0" lang="en-US" sz="1400" spc="-1" strike="noStrike">
                <a:solidFill>
                  <a:srgbClr val="606060"/>
                </a:solidFill>
                <a:latin typeface="Calibri"/>
                <a:ea typeface="DejaVu Sans"/>
              </a:rPr>
              <a:t>[</a:t>
            </a:r>
            <a:r>
              <a:rPr b="0" lang="zh-CN" sz="1400" spc="-1" strike="noStrike">
                <a:solidFill>
                  <a:srgbClr val="606060"/>
                </a:solidFill>
                <a:latin typeface="Calibri"/>
                <a:ea typeface="DejaVu Sans"/>
              </a:rPr>
              <a:t>放一个机器人自主探索的视频</a:t>
            </a:r>
            <a:r>
              <a:rPr b="0" lang="en-US" sz="1400" spc="-1" strike="noStrike">
                <a:solidFill>
                  <a:srgbClr val="606060"/>
                </a:solidFill>
                <a:latin typeface="Calibri"/>
                <a:ea typeface="DejaVu Sans"/>
              </a:rPr>
              <a:t>]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29" name="TextBox 58"/>
          <p:cNvSpPr/>
          <p:nvPr/>
        </p:nvSpPr>
        <p:spPr>
          <a:xfrm>
            <a:off x="10789920" y="6400800"/>
            <a:ext cx="109620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ts val="1301"/>
              </a:lnSpc>
              <a:spcAft>
                <a:spcPts val="201"/>
              </a:spcAft>
              <a:buNone/>
            </a:pPr>
            <a:r>
              <a:rPr b="0" lang="en-US" sz="1100" spc="-1" strike="noStrike">
                <a:solidFill>
                  <a:srgbClr val="606060"/>
                </a:solidFill>
                <a:latin typeface="Calibri"/>
                <a:ea typeface="DejaVu Sans"/>
              </a:rPr>
              <a:t>9/10</a:t>
            </a:r>
            <a:endParaRPr b="0" lang="en-US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Rectangle 1"/>
          <p:cNvSpPr/>
          <p:nvPr/>
        </p:nvSpPr>
        <p:spPr>
          <a:xfrm>
            <a:off x="0" y="0"/>
            <a:ext cx="12190680" cy="1004760"/>
          </a:xfrm>
          <a:prstGeom prst="rect">
            <a:avLst/>
          </a:prstGeom>
          <a:solidFill>
            <a:srgbClr val="1b3a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31" name="TextBox 2"/>
          <p:cNvSpPr/>
          <p:nvPr/>
        </p:nvSpPr>
        <p:spPr>
          <a:xfrm>
            <a:off x="548640" y="182880"/>
            <a:ext cx="9142920" cy="50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ts val="3300"/>
              </a:lnSpc>
              <a:spcAft>
                <a:spcPts val="201"/>
              </a:spcAft>
              <a:buNone/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  <a:ea typeface="DejaVu Sans"/>
              </a:rPr>
              <a:t>Research Insights &amp; Future Directions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32" name="Rectangle 3"/>
          <p:cNvSpPr/>
          <p:nvPr/>
        </p:nvSpPr>
        <p:spPr>
          <a:xfrm>
            <a:off x="0" y="1005840"/>
            <a:ext cx="12190680" cy="35640"/>
          </a:xfrm>
          <a:prstGeom prst="rect">
            <a:avLst/>
          </a:prstGeom>
          <a:solidFill>
            <a:srgbClr val="e87c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33" name="TextBox 4"/>
          <p:cNvSpPr/>
          <p:nvPr/>
        </p:nvSpPr>
        <p:spPr>
          <a:xfrm>
            <a:off x="731520" y="1371600"/>
            <a:ext cx="502812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ts val="2401"/>
              </a:lnSpc>
              <a:spcAft>
                <a:spcPts val="201"/>
              </a:spcAft>
              <a:buNone/>
            </a:pPr>
            <a:r>
              <a:rPr b="1" lang="en-US" sz="2000" spc="-1" strike="noStrike">
                <a:solidFill>
                  <a:srgbClr val="1b3a5c"/>
                </a:solidFill>
                <a:latin typeface="Calibri"/>
                <a:ea typeface="DejaVu Sans"/>
              </a:rPr>
              <a:t>Key Takeaways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34" name="TextBox 5"/>
          <p:cNvSpPr/>
          <p:nvPr/>
        </p:nvSpPr>
        <p:spPr>
          <a:xfrm>
            <a:off x="731520" y="1920240"/>
            <a:ext cx="5028120" cy="308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ts val="2200"/>
              </a:lnSpc>
              <a:spcAft>
                <a:spcPts val="400"/>
              </a:spcAft>
              <a:buNone/>
            </a:pPr>
            <a:r>
              <a:rPr b="0" lang="en-US" sz="1500" spc="-1" strike="noStrike">
                <a:solidFill>
                  <a:srgbClr val="202020"/>
                </a:solidFill>
                <a:latin typeface="Calibri"/>
                <a:ea typeface="DejaVu Sans"/>
              </a:rPr>
              <a:t>●  </a:t>
            </a:r>
            <a:r>
              <a:rPr b="0" lang="en-US" sz="1500" spc="-1" strike="noStrike">
                <a:solidFill>
                  <a:srgbClr val="202020"/>
                </a:solidFill>
                <a:latin typeface="Calibri"/>
                <a:ea typeface="DejaVu Sans"/>
              </a:rPr>
              <a:t>Cloud VLMs can serve as practical path planners for real robots — not just simulation</a:t>
            </a:r>
            <a:endParaRPr b="0" lang="en-US" sz="1500" spc="-1" strike="noStrike">
              <a:latin typeface="Arial"/>
            </a:endParaRPr>
          </a:p>
          <a:p>
            <a:pPr>
              <a:lnSpc>
                <a:spcPts val="2200"/>
              </a:lnSpc>
              <a:spcAft>
                <a:spcPts val="400"/>
              </a:spcAft>
              <a:buNone/>
            </a:pPr>
            <a:r>
              <a:rPr b="0" lang="en-US" sz="1500" spc="-1" strike="noStrike">
                <a:solidFill>
                  <a:srgbClr val="202020"/>
                </a:solidFill>
                <a:latin typeface="Calibri"/>
                <a:ea typeface="DejaVu Sans"/>
              </a:rPr>
              <a:t>●  </a:t>
            </a:r>
            <a:r>
              <a:rPr b="0" lang="en-US" sz="1500" spc="-1" strike="noStrike">
                <a:solidFill>
                  <a:srgbClr val="202020"/>
                </a:solidFill>
                <a:latin typeface="Calibri"/>
                <a:ea typeface="DejaVu Sans"/>
              </a:rPr>
              <a:t>Prompt quality is as decisive as algorithm design in traditional planning</a:t>
            </a:r>
            <a:endParaRPr b="0" lang="en-US" sz="1500" spc="-1" strike="noStrike">
              <a:latin typeface="Arial"/>
            </a:endParaRPr>
          </a:p>
          <a:p>
            <a:pPr>
              <a:lnSpc>
                <a:spcPts val="2200"/>
              </a:lnSpc>
              <a:spcAft>
                <a:spcPts val="400"/>
              </a:spcAft>
              <a:buNone/>
            </a:pPr>
            <a:r>
              <a:rPr b="0" lang="en-US" sz="1500" spc="-1" strike="noStrike">
                <a:solidFill>
                  <a:srgbClr val="202020"/>
                </a:solidFill>
                <a:latin typeface="Calibri"/>
                <a:ea typeface="DejaVu Sans"/>
              </a:rPr>
              <a:t>●  </a:t>
            </a:r>
            <a:r>
              <a:rPr b="0" lang="en-US" sz="1500" spc="-1" strike="noStrike">
                <a:solidFill>
                  <a:srgbClr val="202020"/>
                </a:solidFill>
                <a:latin typeface="Calibri"/>
                <a:ea typeface="DejaVu Sans"/>
              </a:rPr>
              <a:t>Active tool-calling (Function Calling) enables spatially grounded reasoning</a:t>
            </a:r>
            <a:endParaRPr b="0" lang="en-US" sz="1500" spc="-1" strike="noStrike">
              <a:latin typeface="Arial"/>
            </a:endParaRPr>
          </a:p>
          <a:p>
            <a:pPr>
              <a:lnSpc>
                <a:spcPts val="2200"/>
              </a:lnSpc>
              <a:spcAft>
                <a:spcPts val="400"/>
              </a:spcAft>
              <a:buNone/>
            </a:pPr>
            <a:r>
              <a:rPr b="0" lang="en-US" sz="1500" spc="-1" strike="noStrike">
                <a:solidFill>
                  <a:srgbClr val="202020"/>
                </a:solidFill>
                <a:latin typeface="Calibri"/>
                <a:ea typeface="DejaVu Sans"/>
              </a:rPr>
              <a:t>●  </a:t>
            </a:r>
            <a:r>
              <a:rPr b="0" lang="en-US" sz="1500" spc="-1" strike="noStrike">
                <a:solidFill>
                  <a:srgbClr val="202020"/>
                </a:solidFill>
                <a:latin typeface="Calibri"/>
                <a:ea typeface="DejaVu Sans"/>
              </a:rPr>
              <a:t>Modular Skill YAML architecture → extensible to new tasks with zero code changes</a:t>
            </a:r>
            <a:endParaRPr b="0" lang="en-US" sz="1500" spc="-1" strike="noStrike">
              <a:latin typeface="Arial"/>
            </a:endParaRPr>
          </a:p>
          <a:p>
            <a:pPr>
              <a:lnSpc>
                <a:spcPts val="2200"/>
              </a:lnSpc>
              <a:spcAft>
                <a:spcPts val="400"/>
              </a:spcAft>
              <a:buNone/>
            </a:pPr>
            <a:r>
              <a:rPr b="0" lang="en-US" sz="1500" spc="-1" strike="noStrike">
                <a:solidFill>
                  <a:srgbClr val="202020"/>
                </a:solidFill>
                <a:latin typeface="Calibri"/>
                <a:ea typeface="DejaVu Sans"/>
              </a:rPr>
              <a:t>●  </a:t>
            </a:r>
            <a:r>
              <a:rPr b="0" lang="en-US" sz="1500" spc="-1" strike="noStrike">
                <a:solidFill>
                  <a:srgbClr val="202020"/>
                </a:solidFill>
                <a:latin typeface="Calibri"/>
                <a:ea typeface="DejaVu Sans"/>
              </a:rPr>
              <a:t>Semantic mapping emerges naturally as a side product of agent navigation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235" name="TextBox 6"/>
          <p:cNvSpPr/>
          <p:nvPr/>
        </p:nvSpPr>
        <p:spPr>
          <a:xfrm>
            <a:off x="6400800" y="1371600"/>
            <a:ext cx="53024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ts val="2401"/>
              </a:lnSpc>
              <a:spcAft>
                <a:spcPts val="201"/>
              </a:spcAft>
              <a:buNone/>
            </a:pPr>
            <a:r>
              <a:rPr b="1" lang="en-US" sz="2000" spc="-1" strike="noStrike">
                <a:solidFill>
                  <a:srgbClr val="2d9c6f"/>
                </a:solidFill>
                <a:latin typeface="Calibri"/>
                <a:ea typeface="DejaVu Sans"/>
              </a:rPr>
              <a:t>Future Directions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36" name="TextBox 7"/>
          <p:cNvSpPr/>
          <p:nvPr/>
        </p:nvSpPr>
        <p:spPr>
          <a:xfrm>
            <a:off x="6400800" y="1920240"/>
            <a:ext cx="5302440" cy="308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ts val="2200"/>
              </a:lnSpc>
              <a:spcAft>
                <a:spcPts val="400"/>
              </a:spcAft>
              <a:buNone/>
            </a:pPr>
            <a:r>
              <a:rPr b="0" lang="en-US" sz="1500" spc="-1" strike="noStrike">
                <a:solidFill>
                  <a:srgbClr val="202020"/>
                </a:solidFill>
                <a:latin typeface="Calibri"/>
                <a:ea typeface="DejaVu Sans"/>
              </a:rPr>
              <a:t>●  </a:t>
            </a:r>
            <a:r>
              <a:rPr b="0" lang="en-US" sz="1500" spc="-1" strike="noStrike">
                <a:solidFill>
                  <a:srgbClr val="202020"/>
                </a:solidFill>
                <a:latin typeface="Calibri"/>
                <a:ea typeface="DejaVu Sans"/>
              </a:rPr>
              <a:t>Progressive Cognition: Scout → Inspector → Navigator multi-skill framework</a:t>
            </a:r>
            <a:endParaRPr b="0" lang="en-US" sz="1500" spc="-1" strike="noStrike">
              <a:latin typeface="Arial"/>
            </a:endParaRPr>
          </a:p>
          <a:p>
            <a:pPr>
              <a:lnSpc>
                <a:spcPts val="2200"/>
              </a:lnSpc>
              <a:spcAft>
                <a:spcPts val="400"/>
              </a:spcAft>
              <a:buNone/>
            </a:pPr>
            <a:r>
              <a:rPr b="0" lang="en-US" sz="1500" spc="-1" strike="noStrike">
                <a:solidFill>
                  <a:srgbClr val="202020"/>
                </a:solidFill>
                <a:latin typeface="Calibri"/>
                <a:ea typeface="DejaVu Sans"/>
              </a:rPr>
              <a:t>●  </a:t>
            </a:r>
            <a:r>
              <a:rPr b="0" lang="en-US" sz="1500" spc="-1" strike="noStrike">
                <a:solidFill>
                  <a:srgbClr val="202020"/>
                </a:solidFill>
                <a:latin typeface="Calibri"/>
                <a:ea typeface="DejaVu Sans"/>
              </a:rPr>
              <a:t>Persistent semantic memory across sessions (save/load JSON maps)</a:t>
            </a:r>
            <a:endParaRPr b="0" lang="en-US" sz="1500" spc="-1" strike="noStrike">
              <a:latin typeface="Arial"/>
            </a:endParaRPr>
          </a:p>
          <a:p>
            <a:pPr>
              <a:lnSpc>
                <a:spcPts val="2200"/>
              </a:lnSpc>
              <a:spcAft>
                <a:spcPts val="400"/>
              </a:spcAft>
              <a:buNone/>
            </a:pPr>
            <a:r>
              <a:rPr b="0" lang="en-US" sz="1500" spc="-1" strike="noStrike">
                <a:solidFill>
                  <a:srgbClr val="202020"/>
                </a:solidFill>
                <a:latin typeface="Calibri"/>
                <a:ea typeface="DejaVu Sans"/>
              </a:rPr>
              <a:t>●  </a:t>
            </a:r>
            <a:r>
              <a:rPr b="0" lang="en-US" sz="1500" spc="-1" strike="noStrike">
                <a:solidFill>
                  <a:srgbClr val="202020"/>
                </a:solidFill>
                <a:latin typeface="Calibri"/>
                <a:ea typeface="DejaVu Sans"/>
              </a:rPr>
              <a:t>Hybrid architecture: local lightweight model + cloud VLM to reduce latency</a:t>
            </a:r>
            <a:endParaRPr b="0" lang="en-US" sz="1500" spc="-1" strike="noStrike">
              <a:latin typeface="Arial"/>
            </a:endParaRPr>
          </a:p>
          <a:p>
            <a:pPr>
              <a:lnSpc>
                <a:spcPts val="2200"/>
              </a:lnSpc>
              <a:spcAft>
                <a:spcPts val="400"/>
              </a:spcAft>
              <a:buNone/>
            </a:pPr>
            <a:r>
              <a:rPr b="0" lang="en-US" sz="1500" spc="-1" strike="noStrike">
                <a:solidFill>
                  <a:srgbClr val="202020"/>
                </a:solidFill>
                <a:latin typeface="Calibri"/>
                <a:ea typeface="DejaVu Sans"/>
              </a:rPr>
              <a:t>●  </a:t>
            </a:r>
            <a:r>
              <a:rPr b="0" lang="en-US" sz="1500" spc="-1" strike="noStrike">
                <a:solidFill>
                  <a:srgbClr val="202020"/>
                </a:solidFill>
                <a:latin typeface="Calibri"/>
                <a:ea typeface="DejaVu Sans"/>
              </a:rPr>
              <a:t>Multi-robot formation: leader (perception) + followers (execution)</a:t>
            </a:r>
            <a:endParaRPr b="0" lang="en-US" sz="1500" spc="-1" strike="noStrike">
              <a:latin typeface="Arial"/>
            </a:endParaRPr>
          </a:p>
          <a:p>
            <a:pPr>
              <a:lnSpc>
                <a:spcPts val="2200"/>
              </a:lnSpc>
              <a:spcAft>
                <a:spcPts val="400"/>
              </a:spcAft>
              <a:buNone/>
            </a:pPr>
            <a:r>
              <a:rPr b="0" lang="en-US" sz="1500" spc="-1" strike="noStrike">
                <a:solidFill>
                  <a:srgbClr val="202020"/>
                </a:solidFill>
                <a:latin typeface="Calibri"/>
                <a:ea typeface="DejaVu Sans"/>
              </a:rPr>
              <a:t>●  </a:t>
            </a:r>
            <a:r>
              <a:rPr b="0" lang="en-US" sz="1500" spc="-1" strike="noStrike">
                <a:solidFill>
                  <a:srgbClr val="202020"/>
                </a:solidFill>
                <a:latin typeface="Calibri"/>
                <a:ea typeface="DejaVu Sans"/>
              </a:rPr>
              <a:t>Cross-domain generalization to outdoor / warehouse environments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237" name="Rectangle 8"/>
          <p:cNvSpPr/>
          <p:nvPr/>
        </p:nvSpPr>
        <p:spPr>
          <a:xfrm>
            <a:off x="548640" y="5303520"/>
            <a:ext cx="11063160" cy="913320"/>
          </a:xfrm>
          <a:prstGeom prst="rect">
            <a:avLst/>
          </a:prstGeom>
          <a:solidFill>
            <a:srgbClr val="fef3e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38" name="TextBox 9"/>
          <p:cNvSpPr/>
          <p:nvPr/>
        </p:nvSpPr>
        <p:spPr>
          <a:xfrm>
            <a:off x="914400" y="5394960"/>
            <a:ext cx="1051452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ts val="1800"/>
              </a:lnSpc>
              <a:spcAft>
                <a:spcPts val="201"/>
              </a:spcAft>
              <a:buNone/>
            </a:pPr>
            <a:r>
              <a:rPr b="0" lang="en-US" sz="1500" spc="-1" strike="noStrike">
                <a:solidFill>
                  <a:srgbClr val="1b3a5c"/>
                </a:solidFill>
                <a:latin typeface="Calibri"/>
                <a:ea typeface="DejaVu Sans"/>
              </a:rPr>
              <a:t>Research Interest Alignment:  This work sits at the intersection of Embodied AI, Vision-Language Models, and Multi-Robot Systems — areas where I am eager to pursue deeper research at the graduate level.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239" name="TextBox 10"/>
          <p:cNvSpPr/>
          <p:nvPr/>
        </p:nvSpPr>
        <p:spPr>
          <a:xfrm>
            <a:off x="10789920" y="6400800"/>
            <a:ext cx="109620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ts val="1301"/>
              </a:lnSpc>
              <a:spcAft>
                <a:spcPts val="201"/>
              </a:spcAft>
              <a:buNone/>
            </a:pPr>
            <a:r>
              <a:rPr b="0" lang="en-US" sz="1100" spc="-1" strike="noStrike">
                <a:solidFill>
                  <a:srgbClr val="606060"/>
                </a:solidFill>
                <a:latin typeface="Calibri"/>
                <a:ea typeface="DejaVu Sans"/>
              </a:rPr>
              <a:t>10/10</a:t>
            </a:r>
            <a:endParaRPr b="0" lang="en-US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417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41" name="Rectangle 5"/>
          <p:cNvSpPr/>
          <p:nvPr/>
        </p:nvSpPr>
        <p:spPr>
          <a:xfrm>
            <a:off x="0" y="0"/>
            <a:ext cx="12191400" cy="1005120"/>
          </a:xfrm>
          <a:prstGeom prst="rect">
            <a:avLst/>
          </a:prstGeom>
          <a:solidFill>
            <a:srgbClr val="1b3a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42" name="TextBox 6"/>
          <p:cNvSpPr/>
          <p:nvPr/>
        </p:nvSpPr>
        <p:spPr>
          <a:xfrm>
            <a:off x="548640" y="182880"/>
            <a:ext cx="9143280" cy="50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ts val="3300"/>
              </a:lnSpc>
              <a:spcAft>
                <a:spcPts val="201"/>
              </a:spcAft>
              <a:buNone/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  <a:ea typeface="DejaVu Sans"/>
              </a:rPr>
              <a:t>Why Me — Competitive Strengths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43" name="TextBox 7"/>
          <p:cNvSpPr/>
          <p:nvPr/>
        </p:nvSpPr>
        <p:spPr>
          <a:xfrm>
            <a:off x="548640" y="640080"/>
            <a:ext cx="9143280" cy="29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ts val="1599"/>
              </a:lnSpc>
              <a:spcAft>
                <a:spcPts val="201"/>
              </a:spcAft>
              <a:buNone/>
            </a:pPr>
            <a:r>
              <a:rPr b="0" lang="en-US" sz="1400" spc="-1" strike="noStrike">
                <a:solidFill>
                  <a:srgbClr val="a0c8e8"/>
                </a:solidFill>
                <a:latin typeface="Calibri"/>
                <a:ea typeface="DejaVu Sans"/>
              </a:rPr>
              <a:t>What I bring to your Robotics M.S. program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44" name="Rectangle 8"/>
          <p:cNvSpPr/>
          <p:nvPr/>
        </p:nvSpPr>
        <p:spPr>
          <a:xfrm>
            <a:off x="0" y="1005840"/>
            <a:ext cx="12191400" cy="36000"/>
          </a:xfrm>
          <a:prstGeom prst="rect">
            <a:avLst/>
          </a:prstGeom>
          <a:solidFill>
            <a:srgbClr val="e87c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45" name="TextBox 9"/>
          <p:cNvSpPr/>
          <p:nvPr/>
        </p:nvSpPr>
        <p:spPr>
          <a:xfrm>
            <a:off x="731520" y="1371600"/>
            <a:ext cx="502848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ts val="2401"/>
              </a:lnSpc>
              <a:spcAft>
                <a:spcPts val="201"/>
              </a:spcAft>
              <a:buNone/>
            </a:pPr>
            <a:r>
              <a:rPr b="1" lang="en-US" sz="2000" spc="-1" strike="noStrike">
                <a:solidFill>
                  <a:srgbClr val="1b3a5c"/>
                </a:solidFill>
                <a:latin typeface="Calibri"/>
                <a:ea typeface="DejaVu Sans"/>
              </a:rPr>
              <a:t>Core Strengths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46" name="Rectangle 10"/>
          <p:cNvSpPr/>
          <p:nvPr/>
        </p:nvSpPr>
        <p:spPr>
          <a:xfrm>
            <a:off x="548640" y="1920240"/>
            <a:ext cx="72360" cy="776520"/>
          </a:xfrm>
          <a:prstGeom prst="rect">
            <a:avLst/>
          </a:prstGeom>
          <a:solidFill>
            <a:srgbClr val="2e6b9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47" name="TextBox 11"/>
          <p:cNvSpPr/>
          <p:nvPr/>
        </p:nvSpPr>
        <p:spPr>
          <a:xfrm>
            <a:off x="822960" y="1920240"/>
            <a:ext cx="4845600" cy="29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ts val="1599"/>
              </a:lnSpc>
              <a:spcAft>
                <a:spcPts val="201"/>
              </a:spcAft>
              <a:buNone/>
            </a:pPr>
            <a:r>
              <a:rPr b="1" lang="en-US" sz="1400" spc="-1" strike="noStrike">
                <a:solidFill>
                  <a:srgbClr val="1b3a5c"/>
                </a:solidFill>
                <a:latin typeface="Calibri"/>
                <a:ea typeface="DejaVu Sans"/>
              </a:rPr>
              <a:t>Cross-Disciplinary Full-Stack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48" name="TextBox 12"/>
          <p:cNvSpPr/>
          <p:nvPr/>
        </p:nvSpPr>
        <p:spPr>
          <a:xfrm>
            <a:off x="822960" y="2194560"/>
            <a:ext cx="4845600" cy="58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ts val="1301"/>
              </a:lnSpc>
              <a:spcAft>
                <a:spcPts val="201"/>
              </a:spcAft>
              <a:buNone/>
            </a:pPr>
            <a:r>
              <a:rPr b="0" lang="en-US" sz="1100" spc="-1" strike="noStrike">
                <a:solidFill>
                  <a:srgbClr val="606060"/>
                </a:solidFill>
                <a:latin typeface="Calibri"/>
                <a:ea typeface="DejaVu Sans"/>
              </a:rPr>
              <a:t>EME background + AI/VLM + ROS2 software + embedded deployment (Jetson Orin Nano). Can bridge the gap between mechanical design and intelligent software.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249" name="Rectangle 13"/>
          <p:cNvSpPr/>
          <p:nvPr/>
        </p:nvSpPr>
        <p:spPr>
          <a:xfrm>
            <a:off x="548640" y="2880360"/>
            <a:ext cx="72360" cy="776520"/>
          </a:xfrm>
          <a:prstGeom prst="rect">
            <a:avLst/>
          </a:prstGeom>
          <a:solidFill>
            <a:srgbClr val="2e6b9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50" name="TextBox 14"/>
          <p:cNvSpPr/>
          <p:nvPr/>
        </p:nvSpPr>
        <p:spPr>
          <a:xfrm>
            <a:off x="822960" y="2880360"/>
            <a:ext cx="4845600" cy="29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ts val="1599"/>
              </a:lnSpc>
              <a:spcAft>
                <a:spcPts val="201"/>
              </a:spcAft>
              <a:buNone/>
            </a:pPr>
            <a:r>
              <a:rPr b="1" lang="en-US" sz="1400" spc="-1" strike="noStrike">
                <a:solidFill>
                  <a:srgbClr val="1b3a5c"/>
                </a:solidFill>
                <a:latin typeface="Calibri"/>
                <a:ea typeface="DejaVu Sans"/>
              </a:rPr>
              <a:t>Real Hardware, Not Just Simulation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51" name="TextBox 15"/>
          <p:cNvSpPr/>
          <p:nvPr/>
        </p:nvSpPr>
        <p:spPr>
          <a:xfrm>
            <a:off x="822960" y="3154680"/>
            <a:ext cx="5577480" cy="75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ts val="1301"/>
              </a:lnSpc>
              <a:spcAft>
                <a:spcPts val="201"/>
              </a:spcAft>
              <a:buNone/>
            </a:pPr>
            <a:r>
              <a:rPr b="0" lang="en-US" sz="1100" spc="-1" strike="noStrike">
                <a:solidFill>
                  <a:srgbClr val="606060"/>
                </a:solidFill>
                <a:latin typeface="Calibri"/>
                <a:ea typeface="DejaVu Sans"/>
              </a:rPr>
              <a:t>Built and debugged a complete autonomous navigation system on a physical robot. Diagnosed and resolved hardware-software integration issues including sensor calibration, coordinate transform errors, PID tuning, and communication QoS — problems that only surface on real hardware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252" name="Rectangle 16"/>
          <p:cNvSpPr/>
          <p:nvPr/>
        </p:nvSpPr>
        <p:spPr>
          <a:xfrm>
            <a:off x="548640" y="3840480"/>
            <a:ext cx="72360" cy="776520"/>
          </a:xfrm>
          <a:prstGeom prst="rect">
            <a:avLst/>
          </a:prstGeom>
          <a:solidFill>
            <a:srgbClr val="2e6b9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53" name="TextBox 17"/>
          <p:cNvSpPr/>
          <p:nvPr/>
        </p:nvSpPr>
        <p:spPr>
          <a:xfrm>
            <a:off x="822960" y="3840480"/>
            <a:ext cx="4845600" cy="29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ts val="1599"/>
              </a:lnSpc>
              <a:spcAft>
                <a:spcPts val="201"/>
              </a:spcAft>
              <a:buNone/>
            </a:pPr>
            <a:r>
              <a:rPr b="1" lang="en-US" sz="1400" spc="-1" strike="noStrike">
                <a:solidFill>
                  <a:srgbClr val="1b3a5c"/>
                </a:solidFill>
                <a:latin typeface="Calibri"/>
                <a:ea typeface="DejaVu Sans"/>
              </a:rPr>
              <a:t>Cutting-Edge Technology Adoption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54" name="TextBox 18"/>
          <p:cNvSpPr/>
          <p:nvPr/>
        </p:nvSpPr>
        <p:spPr>
          <a:xfrm>
            <a:off x="822960" y="4114800"/>
            <a:ext cx="4845600" cy="75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ts val="1301"/>
              </a:lnSpc>
              <a:spcAft>
                <a:spcPts val="201"/>
              </a:spcAft>
              <a:buNone/>
            </a:pPr>
            <a:r>
              <a:rPr b="0" lang="en-US" sz="1100" spc="-1" strike="noStrike">
                <a:solidFill>
                  <a:srgbClr val="606060"/>
                </a:solidFill>
                <a:latin typeface="Calibri"/>
                <a:ea typeface="DejaVu Sans"/>
              </a:rPr>
              <a:t>Implemented VLM Function Calling Agent architecture on a real robot — a technique that appeared in academic papers only in 2024-2025. Demonstrates ability to rapidly learn and apply frontier research.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255" name="Rectangle 19"/>
          <p:cNvSpPr/>
          <p:nvPr/>
        </p:nvSpPr>
        <p:spPr>
          <a:xfrm>
            <a:off x="548640" y="4800600"/>
            <a:ext cx="72360" cy="776520"/>
          </a:xfrm>
          <a:prstGeom prst="rect">
            <a:avLst/>
          </a:prstGeom>
          <a:solidFill>
            <a:srgbClr val="2e6b9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56" name="TextBox 20"/>
          <p:cNvSpPr/>
          <p:nvPr/>
        </p:nvSpPr>
        <p:spPr>
          <a:xfrm>
            <a:off x="822960" y="4800600"/>
            <a:ext cx="4845600" cy="29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ts val="1599"/>
              </a:lnSpc>
              <a:spcAft>
                <a:spcPts val="201"/>
              </a:spcAft>
              <a:buNone/>
            </a:pPr>
            <a:r>
              <a:rPr b="1" lang="en-US" sz="1400" spc="-1" strike="noStrike">
                <a:solidFill>
                  <a:srgbClr val="1b3a5c"/>
                </a:solidFill>
                <a:latin typeface="Calibri"/>
                <a:ea typeface="DejaVu Sans"/>
              </a:rPr>
              <a:t>Systems Thinking &amp; Modular Design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57" name="TextBox 21"/>
          <p:cNvSpPr/>
          <p:nvPr/>
        </p:nvSpPr>
        <p:spPr>
          <a:xfrm>
            <a:off x="822960" y="5074920"/>
            <a:ext cx="4845600" cy="58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ts val="1301"/>
              </a:lnSpc>
              <a:spcAft>
                <a:spcPts val="201"/>
              </a:spcAft>
              <a:buNone/>
            </a:pPr>
            <a:r>
              <a:rPr b="0" lang="en-US" sz="1100" spc="-1" strike="noStrike">
                <a:solidFill>
                  <a:srgbClr val="606060"/>
                </a:solidFill>
                <a:latin typeface="Calibri"/>
                <a:ea typeface="DejaVu Sans"/>
              </a:rPr>
              <a:t>Designed a 4-layer architecture from scratch. Created a Skill YAML framework enabling zero-code behavioral extension. Shows I think beyond immediate problems toward scalable solutions.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258" name="TextBox 22"/>
          <p:cNvSpPr/>
          <p:nvPr/>
        </p:nvSpPr>
        <p:spPr>
          <a:xfrm>
            <a:off x="6172200" y="1371600"/>
            <a:ext cx="502848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ts val="2401"/>
              </a:lnSpc>
              <a:spcAft>
                <a:spcPts val="201"/>
              </a:spcAft>
              <a:buNone/>
            </a:pPr>
            <a:r>
              <a:rPr b="1" lang="en-US" sz="2000" spc="-1" strike="noStrike">
                <a:solidFill>
                  <a:srgbClr val="1b3a5c"/>
                </a:solidFill>
                <a:latin typeface="Calibri"/>
                <a:ea typeface="DejaVu Sans"/>
              </a:rPr>
              <a:t>Technical Skills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59" name="Rectangle 23"/>
          <p:cNvSpPr/>
          <p:nvPr/>
        </p:nvSpPr>
        <p:spPr>
          <a:xfrm>
            <a:off x="6172200" y="1920240"/>
            <a:ext cx="2331000" cy="776520"/>
          </a:xfrm>
          <a:prstGeom prst="rect">
            <a:avLst/>
          </a:prstGeom>
          <a:solidFill>
            <a:srgbClr val="d6e8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60" name="TextBox 24"/>
          <p:cNvSpPr/>
          <p:nvPr/>
        </p:nvSpPr>
        <p:spPr>
          <a:xfrm>
            <a:off x="6400800" y="1965960"/>
            <a:ext cx="1919520" cy="26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ts val="1400"/>
              </a:lnSpc>
              <a:spcAft>
                <a:spcPts val="201"/>
              </a:spcAft>
              <a:buNone/>
            </a:pPr>
            <a:r>
              <a:rPr b="1" lang="en-US" sz="1200" spc="-1" strike="noStrike">
                <a:solidFill>
                  <a:srgbClr val="1b3a5c"/>
                </a:solidFill>
                <a:latin typeface="Calibri"/>
                <a:ea typeface="DejaVu Sans"/>
              </a:rPr>
              <a:t>Robotics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61" name="TextBox 25"/>
          <p:cNvSpPr/>
          <p:nvPr/>
        </p:nvSpPr>
        <p:spPr>
          <a:xfrm>
            <a:off x="6172200" y="2194560"/>
            <a:ext cx="2377080" cy="4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ts val="1500"/>
              </a:lnSpc>
              <a:spcAft>
                <a:spcPts val="201"/>
              </a:spcAft>
              <a:buNone/>
            </a:pPr>
            <a:r>
              <a:rPr b="0" lang="en-US" sz="1000" spc="-1" strike="noStrike">
                <a:solidFill>
                  <a:srgbClr val="606060"/>
                </a:solidFill>
                <a:latin typeface="Calibri"/>
                <a:ea typeface="DejaVu Sans"/>
              </a:rPr>
              <a:t>ROS2 · PID Control · Pure Pursuit</a:t>
            </a:r>
            <a:br>
              <a:rPr sz="1000"/>
            </a:br>
            <a:r>
              <a:rPr b="0" lang="en-US" sz="1000" spc="-1" strike="noStrike">
                <a:solidFill>
                  <a:srgbClr val="606060"/>
                </a:solidFill>
                <a:latin typeface="Calibri"/>
                <a:ea typeface="DejaVu Sans"/>
              </a:rPr>
              <a:t>TF2 · Sensor Fusion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262" name="Rectangle 26"/>
          <p:cNvSpPr/>
          <p:nvPr/>
        </p:nvSpPr>
        <p:spPr>
          <a:xfrm>
            <a:off x="6172200" y="2788920"/>
            <a:ext cx="2331000" cy="776520"/>
          </a:xfrm>
          <a:prstGeom prst="rect">
            <a:avLst/>
          </a:prstGeom>
          <a:solidFill>
            <a:srgbClr val="d6e8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63" name="TextBox 27"/>
          <p:cNvSpPr/>
          <p:nvPr/>
        </p:nvSpPr>
        <p:spPr>
          <a:xfrm>
            <a:off x="6400800" y="2834640"/>
            <a:ext cx="1919520" cy="26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ts val="1400"/>
              </a:lnSpc>
              <a:spcAft>
                <a:spcPts val="201"/>
              </a:spcAft>
              <a:buNone/>
            </a:pPr>
            <a:r>
              <a:rPr b="1" lang="en-US" sz="1200" spc="-1" strike="noStrike">
                <a:solidFill>
                  <a:srgbClr val="1b3a5c"/>
                </a:solidFill>
                <a:latin typeface="Calibri"/>
                <a:ea typeface="DejaVu Sans"/>
              </a:rPr>
              <a:t>Programming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64" name="TextBox 28"/>
          <p:cNvSpPr/>
          <p:nvPr/>
        </p:nvSpPr>
        <p:spPr>
          <a:xfrm>
            <a:off x="6400800" y="3063240"/>
            <a:ext cx="1919520" cy="4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ts val="1500"/>
              </a:lnSpc>
              <a:spcAft>
                <a:spcPts val="201"/>
              </a:spcAft>
              <a:buNone/>
            </a:pPr>
            <a:r>
              <a:rPr b="0" lang="en-US" sz="1000" spc="-1" strike="noStrike">
                <a:solidFill>
                  <a:srgbClr val="606060"/>
                </a:solidFill>
                <a:latin typeface="Calibri"/>
                <a:ea typeface="DejaVu Sans"/>
              </a:rPr>
              <a:t>Python · Ubuntu/Linux</a:t>
            </a:r>
            <a:br>
              <a:rPr sz="1000"/>
            </a:br>
            <a:r>
              <a:rPr b="0" lang="en-US" sz="1000" spc="-1" strike="noStrike">
                <a:solidFill>
                  <a:srgbClr val="606060"/>
                </a:solidFill>
                <a:latin typeface="Calibri"/>
                <a:ea typeface="DejaVu Sans"/>
              </a:rPr>
              <a:t>Git · API Integration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265" name="Rectangle 29"/>
          <p:cNvSpPr/>
          <p:nvPr/>
        </p:nvSpPr>
        <p:spPr>
          <a:xfrm>
            <a:off x="6172200" y="3657600"/>
            <a:ext cx="2331000" cy="776520"/>
          </a:xfrm>
          <a:prstGeom prst="rect">
            <a:avLst/>
          </a:prstGeom>
          <a:solidFill>
            <a:srgbClr val="d6e8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66" name="TextBox 30"/>
          <p:cNvSpPr/>
          <p:nvPr/>
        </p:nvSpPr>
        <p:spPr>
          <a:xfrm>
            <a:off x="6390000" y="3703320"/>
            <a:ext cx="1919520" cy="26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ts val="1400"/>
              </a:lnSpc>
              <a:spcAft>
                <a:spcPts val="201"/>
              </a:spcAft>
              <a:buNone/>
            </a:pPr>
            <a:r>
              <a:rPr b="1" lang="en-US" sz="1200" spc="-1" strike="noStrike">
                <a:solidFill>
                  <a:srgbClr val="1b3a5c"/>
                </a:solidFill>
                <a:latin typeface="Calibri"/>
                <a:ea typeface="DejaVu Sans"/>
              </a:rPr>
              <a:t>AI / ML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67" name="TextBox 31"/>
          <p:cNvSpPr/>
          <p:nvPr/>
        </p:nvSpPr>
        <p:spPr>
          <a:xfrm>
            <a:off x="6080760" y="3931920"/>
            <a:ext cx="2605680" cy="4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ts val="1500"/>
              </a:lnSpc>
              <a:spcAft>
                <a:spcPts val="201"/>
              </a:spcAft>
              <a:buNone/>
            </a:pPr>
            <a:r>
              <a:rPr b="0" lang="en-US" sz="1000" spc="-1" strike="noStrike">
                <a:solidFill>
                  <a:srgbClr val="606060"/>
                </a:solidFill>
                <a:latin typeface="Calibri"/>
                <a:ea typeface="DejaVu Sans"/>
              </a:rPr>
              <a:t>VLM (Gemini) · Function Calling</a:t>
            </a:r>
            <a:br>
              <a:rPr sz="1000"/>
            </a:br>
            <a:r>
              <a:rPr b="0" lang="en-US" sz="1000" spc="-1" strike="noStrike">
                <a:solidFill>
                  <a:srgbClr val="606060"/>
                </a:solidFill>
                <a:latin typeface="Calibri"/>
                <a:ea typeface="DejaVu Sans"/>
              </a:rPr>
              <a:t>Prompt Engineering · Agent Design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268" name="Rectangle 32"/>
          <p:cNvSpPr/>
          <p:nvPr/>
        </p:nvSpPr>
        <p:spPr>
          <a:xfrm>
            <a:off x="6172200" y="4526280"/>
            <a:ext cx="2331000" cy="776520"/>
          </a:xfrm>
          <a:prstGeom prst="rect">
            <a:avLst/>
          </a:prstGeom>
          <a:solidFill>
            <a:srgbClr val="d6e8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69" name="TextBox 33"/>
          <p:cNvSpPr/>
          <p:nvPr/>
        </p:nvSpPr>
        <p:spPr>
          <a:xfrm>
            <a:off x="6400800" y="4572000"/>
            <a:ext cx="1919520" cy="26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ts val="1400"/>
              </a:lnSpc>
              <a:spcAft>
                <a:spcPts val="201"/>
              </a:spcAft>
              <a:buNone/>
            </a:pPr>
            <a:r>
              <a:rPr b="1" lang="en-US" sz="1200" spc="-1" strike="noStrike">
                <a:solidFill>
                  <a:srgbClr val="1b3a5c"/>
                </a:solidFill>
                <a:latin typeface="Calibri"/>
                <a:ea typeface="DejaVu Sans"/>
              </a:rPr>
              <a:t>Engineering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70" name="TextBox 34"/>
          <p:cNvSpPr/>
          <p:nvPr/>
        </p:nvSpPr>
        <p:spPr>
          <a:xfrm>
            <a:off x="6354720" y="4800600"/>
            <a:ext cx="2148480" cy="4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ts val="1500"/>
              </a:lnSpc>
              <a:spcAft>
                <a:spcPts val="201"/>
              </a:spcAft>
              <a:buNone/>
            </a:pPr>
            <a:r>
              <a:rPr b="0" lang="en-US" sz="1000" spc="-1" strike="noStrike">
                <a:solidFill>
                  <a:srgbClr val="606060"/>
                </a:solidFill>
                <a:latin typeface="Calibri"/>
                <a:ea typeface="DejaVu Sans"/>
              </a:rPr>
              <a:t>SolidWorks · CAD · Unity</a:t>
            </a:r>
            <a:br>
              <a:rPr sz="1000"/>
            </a:br>
            <a:r>
              <a:rPr b="0" lang="en-US" sz="1000" spc="-1" strike="noStrike">
                <a:solidFill>
                  <a:srgbClr val="606060"/>
                </a:solidFill>
                <a:latin typeface="Calibri"/>
                <a:ea typeface="DejaVu Sans"/>
              </a:rPr>
              <a:t>Jetson Orin Nano · Embedded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271" name="Rectangle 35"/>
          <p:cNvSpPr/>
          <p:nvPr/>
        </p:nvSpPr>
        <p:spPr>
          <a:xfrm>
            <a:off x="8778240" y="1920240"/>
            <a:ext cx="2742480" cy="3474000"/>
          </a:xfrm>
          <a:prstGeom prst="rect">
            <a:avLst/>
          </a:prstGeom>
          <a:solidFill>
            <a:srgbClr val="fef3e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72" name="TextBox 36"/>
          <p:cNvSpPr/>
          <p:nvPr/>
        </p:nvSpPr>
        <p:spPr>
          <a:xfrm>
            <a:off x="8778240" y="2011680"/>
            <a:ext cx="2742480" cy="29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ts val="1599"/>
              </a:lnSpc>
              <a:spcAft>
                <a:spcPts val="201"/>
              </a:spcAft>
              <a:buNone/>
            </a:pPr>
            <a:r>
              <a:rPr b="1" lang="en-US" sz="1400" spc="-1" strike="noStrike">
                <a:solidFill>
                  <a:srgbClr val="1b3a5c"/>
                </a:solidFill>
                <a:latin typeface="Calibri"/>
                <a:ea typeface="DejaVu Sans"/>
              </a:rPr>
              <a:t>By the Numbers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73" name="TextBox 37"/>
          <p:cNvSpPr/>
          <p:nvPr/>
        </p:nvSpPr>
        <p:spPr>
          <a:xfrm>
            <a:off x="8961120" y="2468880"/>
            <a:ext cx="63936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ts val="2401"/>
              </a:lnSpc>
              <a:spcAft>
                <a:spcPts val="201"/>
              </a:spcAft>
              <a:buNone/>
            </a:pPr>
            <a:r>
              <a:rPr b="1" lang="en-US" sz="2000" spc="-1" strike="noStrike">
                <a:solidFill>
                  <a:srgbClr val="e87c2a"/>
                </a:solidFill>
                <a:latin typeface="Calibri"/>
                <a:ea typeface="DejaVu Sans"/>
              </a:rPr>
              <a:t>4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74" name="TextBox 38"/>
          <p:cNvSpPr/>
          <p:nvPr/>
        </p:nvSpPr>
        <p:spPr>
          <a:xfrm>
            <a:off x="9646920" y="2487240"/>
            <a:ext cx="17366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ts val="1301"/>
              </a:lnSpc>
              <a:spcAft>
                <a:spcPts val="201"/>
              </a:spcAft>
              <a:buNone/>
            </a:pPr>
            <a:r>
              <a:rPr b="0" lang="en-US" sz="1000" spc="-1" strike="noStrike">
                <a:solidFill>
                  <a:srgbClr val="606060"/>
                </a:solidFill>
                <a:latin typeface="Calibri"/>
                <a:ea typeface="DejaVu Sans"/>
              </a:rPr>
              <a:t>Research Projects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275" name="TextBox 43"/>
          <p:cNvSpPr/>
          <p:nvPr/>
        </p:nvSpPr>
        <p:spPr>
          <a:xfrm>
            <a:off x="8961480" y="3429000"/>
            <a:ext cx="63936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ts val="2401"/>
              </a:lnSpc>
              <a:spcAft>
                <a:spcPts val="201"/>
              </a:spcAft>
              <a:buNone/>
            </a:pPr>
            <a:r>
              <a:rPr b="1" lang="en-US" sz="2000" spc="-1" strike="noStrike">
                <a:solidFill>
                  <a:srgbClr val="e87c2a"/>
                </a:solidFill>
                <a:latin typeface="Calibri"/>
                <a:ea typeface="DejaVu Sans"/>
              </a:rPr>
              <a:t>4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76" name="TextBox 44"/>
          <p:cNvSpPr/>
          <p:nvPr/>
        </p:nvSpPr>
        <p:spPr>
          <a:xfrm>
            <a:off x="9646920" y="3429000"/>
            <a:ext cx="17366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ts val="1301"/>
              </a:lnSpc>
              <a:spcAft>
                <a:spcPts val="201"/>
              </a:spcAft>
              <a:buNone/>
            </a:pPr>
            <a:r>
              <a:rPr b="0" lang="en-US" sz="1000" spc="-1" strike="noStrike">
                <a:solidFill>
                  <a:srgbClr val="606060"/>
                </a:solidFill>
                <a:latin typeface="Calibri"/>
                <a:ea typeface="DejaVu Sans"/>
              </a:rPr>
              <a:t>Layer Architecture</a:t>
            </a:r>
            <a:br>
              <a:rPr sz="1000"/>
            </a:br>
            <a:r>
              <a:rPr b="0" lang="en-US" sz="1000" spc="-1" strike="noStrike">
                <a:solidFill>
                  <a:srgbClr val="606060"/>
                </a:solidFill>
                <a:latin typeface="Calibri"/>
                <a:ea typeface="DejaVu Sans"/>
              </a:rPr>
              <a:t>Designed from Scratch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277" name="TextBox 45"/>
          <p:cNvSpPr/>
          <p:nvPr/>
        </p:nvSpPr>
        <p:spPr>
          <a:xfrm>
            <a:off x="8961120" y="4406040"/>
            <a:ext cx="63936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ts val="2401"/>
              </a:lnSpc>
              <a:spcAft>
                <a:spcPts val="201"/>
              </a:spcAft>
              <a:buNone/>
            </a:pPr>
            <a:r>
              <a:rPr b="1" lang="en-US" sz="2000" spc="-1" strike="noStrike">
                <a:solidFill>
                  <a:srgbClr val="e87c2a"/>
                </a:solidFill>
                <a:latin typeface="Calibri"/>
                <a:ea typeface="DejaVu Sans"/>
              </a:rPr>
              <a:t>7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78" name="TextBox 46"/>
          <p:cNvSpPr/>
          <p:nvPr/>
        </p:nvSpPr>
        <p:spPr>
          <a:xfrm>
            <a:off x="9646920" y="4380480"/>
            <a:ext cx="17366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ts val="1301"/>
              </a:lnSpc>
              <a:spcAft>
                <a:spcPts val="201"/>
              </a:spcAft>
              <a:buNone/>
            </a:pPr>
            <a:r>
              <a:rPr b="0" lang="en-US" sz="1000" spc="-1" strike="noStrike">
                <a:solidFill>
                  <a:srgbClr val="606060"/>
                </a:solidFill>
                <a:latin typeface="Calibri"/>
                <a:ea typeface="DejaVu Sans"/>
              </a:rPr>
              <a:t>Atomic Tool Functions</a:t>
            </a:r>
            <a:br>
              <a:rPr sz="1000"/>
            </a:br>
            <a:r>
              <a:rPr b="0" lang="en-US" sz="1000" spc="-1" strike="noStrike">
                <a:solidFill>
                  <a:srgbClr val="606060"/>
                </a:solidFill>
                <a:latin typeface="Calibri"/>
                <a:ea typeface="DejaVu Sans"/>
              </a:rPr>
              <a:t>for Agent System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279" name="Rectangle 47"/>
          <p:cNvSpPr/>
          <p:nvPr/>
        </p:nvSpPr>
        <p:spPr>
          <a:xfrm>
            <a:off x="548640" y="5669280"/>
            <a:ext cx="11063520" cy="822240"/>
          </a:xfrm>
          <a:prstGeom prst="rect">
            <a:avLst/>
          </a:prstGeom>
          <a:solidFill>
            <a:srgbClr val="e8f0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80" name="TextBox 48"/>
          <p:cNvSpPr/>
          <p:nvPr/>
        </p:nvSpPr>
        <p:spPr>
          <a:xfrm>
            <a:off x="914400" y="5760720"/>
            <a:ext cx="10514880" cy="66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ts val="1500"/>
              </a:lnSpc>
              <a:spcAft>
                <a:spcPts val="201"/>
              </a:spcAft>
              <a:buNone/>
            </a:pPr>
            <a:r>
              <a:rPr b="0" lang="en-US" sz="1300" spc="-1" strike="noStrike">
                <a:solidFill>
                  <a:srgbClr val="1b3a5c"/>
                </a:solidFill>
                <a:latin typeface="Calibri"/>
                <a:ea typeface="DejaVu Sans"/>
              </a:rPr>
              <a:t>Alignment with Robotics M.S.:  My hands-on experience in VLM-driven autonomous systems, real hardware deployment, and modular software architecture directly prepares me to contribute to cutting-edge robotics research from day one. I am eager to deepen my expertise in embodied AI and multi-robot systems at the graduate level.</a:t>
            </a:r>
            <a:endParaRPr b="0" lang="en-US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Rectangle 1"/>
          <p:cNvSpPr/>
          <p:nvPr/>
        </p:nvSpPr>
        <p:spPr>
          <a:xfrm>
            <a:off x="0" y="0"/>
            <a:ext cx="12190680" cy="136080"/>
          </a:xfrm>
          <a:prstGeom prst="rect">
            <a:avLst/>
          </a:prstGeom>
          <a:solidFill>
            <a:srgbClr val="e87c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82" name="TextBox 2"/>
          <p:cNvSpPr/>
          <p:nvPr/>
        </p:nvSpPr>
        <p:spPr>
          <a:xfrm>
            <a:off x="914400" y="2011680"/>
            <a:ext cx="10331640" cy="81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ts val="5700"/>
              </a:lnSpc>
              <a:spcAft>
                <a:spcPts val="201"/>
              </a:spcAft>
              <a:buNone/>
            </a:pPr>
            <a:r>
              <a:rPr b="1" lang="en-US" sz="4800" spc="-1" strike="noStrike">
                <a:solidFill>
                  <a:srgbClr val="ffffff"/>
                </a:solidFill>
                <a:latin typeface="Calibri"/>
                <a:ea typeface="DejaVu Sans"/>
              </a:rPr>
              <a:t>Thank You</a:t>
            </a:r>
            <a:endParaRPr b="0" lang="en-US" sz="4800" spc="-1" strike="noStrike">
              <a:latin typeface="Arial"/>
            </a:endParaRPr>
          </a:p>
        </p:txBody>
      </p:sp>
      <p:sp>
        <p:nvSpPr>
          <p:cNvPr id="283" name="Rectangle 3"/>
          <p:cNvSpPr/>
          <p:nvPr/>
        </p:nvSpPr>
        <p:spPr>
          <a:xfrm>
            <a:off x="4114800" y="3200400"/>
            <a:ext cx="3930840" cy="26280"/>
          </a:xfrm>
          <a:prstGeom prst="rect">
            <a:avLst/>
          </a:prstGeom>
          <a:solidFill>
            <a:srgbClr val="e87c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84" name="TextBox 4"/>
          <p:cNvSpPr/>
          <p:nvPr/>
        </p:nvSpPr>
        <p:spPr>
          <a:xfrm>
            <a:off x="1828800" y="3566160"/>
            <a:ext cx="8502840" cy="44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ts val="2801"/>
              </a:lnSpc>
              <a:spcAft>
                <a:spcPts val="201"/>
              </a:spcAft>
              <a:buNone/>
            </a:pPr>
            <a:r>
              <a:rPr b="0" lang="en-US" sz="2400" spc="-1" strike="noStrike">
                <a:solidFill>
                  <a:srgbClr val="a0c8e8"/>
                </a:solidFill>
                <a:latin typeface="Calibri"/>
                <a:ea typeface="DejaVu Sans"/>
              </a:rPr>
              <a:t>Questions &amp; Discussion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285" name="TextBox 5"/>
          <p:cNvSpPr/>
          <p:nvPr/>
        </p:nvSpPr>
        <p:spPr>
          <a:xfrm>
            <a:off x="1828800" y="4389120"/>
            <a:ext cx="8502840" cy="90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ts val="3200"/>
              </a:lnSpc>
              <a:spcAft>
                <a:spcPts val="201"/>
              </a:spcAft>
              <a:buNone/>
            </a:pPr>
            <a:r>
              <a:rPr b="0" lang="en-US" sz="1600" spc="-1" strike="noStrike">
                <a:solidFill>
                  <a:srgbClr val="99bbdd"/>
                </a:solidFill>
                <a:latin typeface="Calibri"/>
                <a:ea typeface="DejaVu Sans"/>
              </a:rPr>
              <a:t>Lawrence, Wang Yilin  | dc22897@um.edu.mo  |  University of Macau</a:t>
            </a:r>
            <a:br>
              <a:rPr sz="1600"/>
            </a:br>
            <a:r>
              <a:rPr b="0" lang="en-US" sz="1600" spc="-1" strike="noStrike">
                <a:solidFill>
                  <a:srgbClr val="99bbdd"/>
                </a:solidFill>
                <a:latin typeface="Calibri"/>
                <a:ea typeface="DejaVu Sans"/>
              </a:rPr>
              <a:t>GitHub: github.com/Kuko1414</a:t>
            </a:r>
            <a:endParaRPr b="0" lang="en-US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2026-04-25T19:55:25Z</dcterms:modified>
  <cp:revision>10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